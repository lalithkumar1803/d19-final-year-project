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8" r:id="rId4"/>
    <p:sldId id="282" r:id="rId5"/>
    <p:sldId id="264" r:id="rId7"/>
    <p:sldId id="263" r:id="rId8"/>
    <p:sldId id="273" r:id="rId9"/>
    <p:sldId id="272" r:id="rId10"/>
    <p:sldId id="262" r:id="rId11"/>
    <p:sldId id="261" r:id="rId12"/>
    <p:sldId id="260" r:id="rId13"/>
    <p:sldId id="259" r:id="rId14"/>
    <p:sldId id="266" r:id="rId15"/>
    <p:sldId id="292" r:id="rId16"/>
    <p:sldId id="293" r:id="rId17"/>
    <p:sldId id="267" r:id="rId18"/>
    <p:sldId id="284" r:id="rId19"/>
    <p:sldId id="285" r:id="rId20"/>
    <p:sldId id="287" r:id="rId21"/>
    <p:sldId id="299" r:id="rId22"/>
    <p:sldId id="300" r:id="rId23"/>
    <p:sldId id="279" r:id="rId24"/>
    <p:sldId id="288" r:id="rId25"/>
    <p:sldId id="269" r:id="rId26"/>
    <p:sldId id="289" r:id="rId27"/>
    <p:sldId id="297" r:id="rId28"/>
    <p:sldId id="301" r:id="rId29"/>
    <p:sldId id="302" r:id="rId30"/>
    <p:sldId id="303" r:id="rId31"/>
    <p:sldId id="298" r:id="rId32"/>
    <p:sldId id="304" r:id="rId33"/>
    <p:sldId id="305" r:id="rId34"/>
    <p:sldId id="270" r:id="rId35"/>
    <p:sldId id="296" r:id="rId36"/>
    <p:sldId id="265" r:id="rId37"/>
    <p:sldId id="271"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4995" autoAdjust="0"/>
    <p:restoredTop sz="95196" autoAdjust="0"/>
  </p:normalViewPr>
  <p:slideViewPr>
    <p:cSldViewPr snapToGrid="0">
      <p:cViewPr varScale="1">
        <p:scale>
          <a:sx n="94" d="100"/>
          <a:sy n="94" d="100"/>
        </p:scale>
        <p:origin x="-1834" y="-6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0672-1B94-4A60-842A-DF9F0BF0CC8B}" type="datetimeFigureOut">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47B17-79FE-4478-A310-1A2505B9FEF6}"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065591-C3C6-47CF-A2DB-55DDBFB55A85}"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1D432E2-0806-4929-8779-EE88DDC47E47}"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B715436-A2AC-4D89-9329-97AA1B97EAFC}"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E8E84AF-4249-49EE-87E5-0A37D77DAEE4}" type="datetime1">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7" name="Slide Number Placeholder 6"/>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CE42BAB-21C6-4946-AC9E-F08FB01A7447}" type="datetime1">
              <a:rPr lang="en-IN" smtClean="0"/>
            </a:fld>
            <a:endParaRPr lang="en-IN"/>
          </a:p>
        </p:txBody>
      </p:sp>
      <p:sp>
        <p:nvSpPr>
          <p:cNvPr id="8" name="Footer Placeholder 7"/>
          <p:cNvSpPr>
            <a:spLocks noGrp="1"/>
          </p:cNvSpPr>
          <p:nvPr>
            <p:ph type="ftr" sz="quarter" idx="11"/>
          </p:nvPr>
        </p:nvSpPr>
        <p:spPr/>
        <p:txBody>
          <a:bodyPr/>
          <a:lstStyle/>
          <a:p>
            <a:r>
              <a:rPr lang="en-IN"/>
              <a:t>Title of the Project</a:t>
            </a:r>
            <a:endParaRPr lang="en-IN"/>
          </a:p>
        </p:txBody>
      </p:sp>
      <p:sp>
        <p:nvSpPr>
          <p:cNvPr id="9" name="Slide Number Placeholder 8"/>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251D88-3FE6-4182-8819-A45055358F36}" type="datetime1">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BD1E957-E8C0-4B79-8C47-A2FFB4C79D04}" type="datetime1">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7" name="Slide Number Placeholder 6"/>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3C60097-B585-439D-9C55-CBA24A0E2EC5}" type="datetime1">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7" name="Slide Number Placeholder 6"/>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ECC0C9A-A18F-4F99-8022-CCFEBCD4A044}"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C91557-4971-443F-96E7-C200B513F2AB}"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574CBD-D244-420B-B808-B53ACA3B5DC2}" type="datetime1">
              <a:rPr lang="en-IN" smtClean="0"/>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Title of the Project</a:t>
            </a:r>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F152-60F5-4862-82F9-1190556AA56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7.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jpeg"/><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jpeg"/><Relationship Id="rId1" Type="http://schemas.openxmlformats.org/officeDocument/2006/relationships/image" Target="../media/image25.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8.jpeg"/><Relationship Id="rId1" Type="http://schemas.openxmlformats.org/officeDocument/2006/relationships/image" Target="../media/image27.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174379" y="99322"/>
            <a:ext cx="1576960" cy="1178263"/>
          </a:xfrm>
          <a:prstGeom prst="rect">
            <a:avLst/>
          </a:prstGeom>
        </p:spPr>
      </p:pic>
      <p:pic>
        <p:nvPicPr>
          <p:cNvPr id="1032" name="Picture 8" descr="Anna University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5085" y="88372"/>
            <a:ext cx="1306884" cy="11782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128419" y="1800692"/>
            <a:ext cx="7020042" cy="461665"/>
          </a:xfrm>
          <a:prstGeom prst="rect">
            <a:avLst/>
          </a:prstGeom>
          <a:noFill/>
        </p:spPr>
        <p:txBody>
          <a:bodyPr wrap="square">
            <a:spAutoFit/>
          </a:bodyPr>
          <a:lstStyle/>
          <a:p>
            <a:r>
              <a:rPr lang="en-US" sz="2400" b="1" dirty="0">
                <a:solidFill>
                  <a:srgbClr val="7030A0"/>
                </a:solidFill>
                <a:latin typeface="Times New Roman" panose="02020603050405020304" pitchFamily="18" charset="0"/>
              </a:rPr>
              <a:t>Department of Computer Science and Engineering </a:t>
            </a:r>
            <a:endParaRPr lang="en-IN" sz="2400" b="1" dirty="0">
              <a:solidFill>
                <a:srgbClr val="7030A0"/>
              </a:solidFill>
            </a:endParaRPr>
          </a:p>
        </p:txBody>
      </p:sp>
      <p:sp>
        <p:nvSpPr>
          <p:cNvPr id="9" name="TextBox 8"/>
          <p:cNvSpPr txBox="1"/>
          <p:nvPr/>
        </p:nvSpPr>
        <p:spPr>
          <a:xfrm>
            <a:off x="1657350" y="2449440"/>
            <a:ext cx="5512566" cy="829945"/>
          </a:xfrm>
          <a:prstGeom prst="rect">
            <a:avLst/>
          </a:prstGeom>
          <a:noFill/>
        </p:spPr>
        <p:txBody>
          <a:bodyPr wrap="square" rtlCol="0">
            <a:spAutoFit/>
          </a:bodyPr>
          <a:lstStyle/>
          <a:p>
            <a:pPr algn="ctr">
              <a:lnSpc>
                <a:spcPct val="150000"/>
              </a:lnSpc>
              <a:spcBef>
                <a:spcPts val="40"/>
              </a:spcBef>
              <a:spcAft>
                <a:spcPts val="800"/>
              </a:spcAft>
              <a:buNone/>
            </a:pPr>
            <a:r>
              <a:rPr lang="en-US" alt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FRAME WORK OF ONLINE VOTING SYSTEM  WITH FACE RECOGANATION USING BLOCK CHAIN</a:t>
            </a:r>
            <a:endParaRPr lang="en-US" altLang="en-US"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p:cNvSpPr txBox="1"/>
          <p:nvPr/>
        </p:nvSpPr>
        <p:spPr>
          <a:xfrm>
            <a:off x="5847358" y="5320558"/>
            <a:ext cx="3188507" cy="787531"/>
          </a:xfrm>
          <a:prstGeom prst="rect">
            <a:avLst/>
          </a:prstGeom>
          <a:noFill/>
        </p:spPr>
        <p:txBody>
          <a:bodyPr wrap="square" rtlCol="0">
            <a:noAutofit/>
          </a:bodyPr>
          <a:lstStyle/>
          <a:p>
            <a:r>
              <a:rPr lang="en-US" b="1" dirty="0">
                <a:latin typeface="Times New Roman" panose="02020603050405020304" pitchFamily="18" charset="0"/>
                <a:cs typeface="Times New Roman" panose="02020603050405020304" pitchFamily="18" charset="0"/>
              </a:rPr>
              <a:t>Guide Name &amp; Designation	</a:t>
            </a:r>
            <a:endParaRPr lang="en-US" b="1" dirty="0">
              <a:latin typeface="Times New Roman" panose="02020603050405020304" pitchFamily="18" charset="0"/>
              <a:cs typeface="Times New Roman" panose="02020603050405020304" pitchFamily="18" charset="0"/>
            </a:endParaRPr>
          </a:p>
          <a:p>
            <a:r>
              <a:rPr lang="en-US" alt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Mrs.</a:t>
            </a:r>
            <a:r>
              <a:rPr lang="en-US" alt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A. Prabha M.E Assistant professor</a:t>
            </a:r>
            <a:endParaRPr lang="en-US" altLang="en-US" sz="1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p:cNvSpPr txBox="1"/>
          <p:nvPr/>
        </p:nvSpPr>
        <p:spPr>
          <a:xfrm>
            <a:off x="955675" y="3429000"/>
            <a:ext cx="6499225" cy="1741805"/>
          </a:xfrm>
          <a:prstGeom prst="rect">
            <a:avLst/>
          </a:prstGeom>
          <a:noFill/>
        </p:spPr>
        <p:txBody>
          <a:bodyPr wrap="square" rtlCol="0">
            <a:noAutofit/>
          </a:bodyPr>
          <a:lstStyle/>
          <a:p>
            <a:pPr marR="122555" algn="ctr">
              <a:lnSpc>
                <a:spcPct val="150000"/>
              </a:lnSpc>
              <a:spcAft>
                <a:spcPts val="800"/>
              </a:spcAft>
            </a:pPr>
            <a:r>
              <a:rPr lang="en-US" alt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LALITH KUMAR </a:t>
            </a:r>
            <a:r>
              <a:rPr lang="en-US" altLang="en-US" sz="1800" b="1" kern="100" dirty="0" smtClean="0">
                <a:effectLst/>
                <a:latin typeface="Times New Roman" panose="02020603050405020304" pitchFamily="18" charset="0"/>
                <a:ea typeface="Calibri" panose="020F0502020204030204" pitchFamily="34" charset="0"/>
                <a:cs typeface="Times New Roman" panose="02020603050405020304" pitchFamily="18" charset="0"/>
              </a:rPr>
              <a:t>P [</a:t>
            </a:r>
            <a:r>
              <a:rPr lang="en-US" alt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211421104326]</a:t>
            </a:r>
            <a:endParaRPr lang="en-US" alt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122555" algn="ctr">
              <a:lnSpc>
                <a:spcPct val="150000"/>
              </a:lnSpc>
              <a:spcAft>
                <a:spcPts val="800"/>
              </a:spcAft>
            </a:pPr>
            <a:r>
              <a:rPr lang="en-US" altLang="en-US" b="1" kern="100" dirty="0" smtClean="0">
                <a:latin typeface="Times New Roman" panose="02020603050405020304" pitchFamily="18" charset="0"/>
                <a:ea typeface="Calibri" panose="020F0502020204030204" pitchFamily="34" charset="0"/>
                <a:cs typeface="Times New Roman" panose="02020603050405020304" pitchFamily="18" charset="0"/>
              </a:rPr>
              <a:t>VIJAY MAHARAJ </a:t>
            </a:r>
            <a:r>
              <a:rPr lang="en-US" altLang="en-US" b="1" kern="100" dirty="0" smtClean="0">
                <a:latin typeface="Times New Roman" panose="02020603050405020304" pitchFamily="18" charset="0"/>
                <a:ea typeface="Calibri" panose="020F0502020204030204" pitchFamily="34" charset="0"/>
                <a:cs typeface="Times New Roman" panose="02020603050405020304" pitchFamily="18" charset="0"/>
              </a:rPr>
              <a:t> S [</a:t>
            </a:r>
            <a:r>
              <a:rPr lang="en-US" altLang="en-US" b="1" kern="100" dirty="0" smtClean="0">
                <a:latin typeface="Times New Roman" panose="02020603050405020304" pitchFamily="18" charset="0"/>
                <a:ea typeface="Calibri" panose="020F0502020204030204" pitchFamily="34" charset="0"/>
                <a:cs typeface="Times New Roman" panose="02020603050405020304" pitchFamily="18" charset="0"/>
              </a:rPr>
              <a:t>211421104334]</a:t>
            </a:r>
            <a:endParaRPr lang="en-US" altLang="en-US" b="1" kern="100" dirty="0" smtClean="0">
              <a:latin typeface="Times New Roman" panose="02020603050405020304" pitchFamily="18" charset="0"/>
              <a:ea typeface="Calibri" panose="020F0502020204030204" pitchFamily="34" charset="0"/>
              <a:cs typeface="Times New Roman" panose="02020603050405020304" pitchFamily="18" charset="0"/>
            </a:endParaRPr>
          </a:p>
          <a:p>
            <a:pPr marR="122555" algn="ctr">
              <a:lnSpc>
                <a:spcPct val="150000"/>
              </a:lnSpc>
              <a:spcAft>
                <a:spcPts val="800"/>
              </a:spcAft>
            </a:pPr>
            <a:r>
              <a:rPr lang="en-US" altLang="en-US" b="1" kern="100" dirty="0" smtClean="0">
                <a:effectLst/>
                <a:latin typeface="Times New Roman" panose="02020603050405020304" pitchFamily="18" charset="0"/>
                <a:ea typeface="Calibri" panose="020F0502020204030204" pitchFamily="34" charset="0"/>
                <a:cs typeface="Times New Roman" panose="02020603050405020304" pitchFamily="18" charset="0"/>
                <a:sym typeface="+mn-ea"/>
              </a:rPr>
              <a:t>PRADEEP  C </a:t>
            </a:r>
            <a:r>
              <a:rPr lang="en-US" altLang="en-US" b="1" kern="100" dirty="0">
                <a:effectLst/>
                <a:latin typeface="Times New Roman" panose="02020603050405020304" pitchFamily="18" charset="0"/>
                <a:ea typeface="Calibri" panose="020F0502020204030204" pitchFamily="34" charset="0"/>
                <a:cs typeface="Times New Roman" panose="02020603050405020304" pitchFamily="18" charset="0"/>
                <a:sym typeface="+mn-ea"/>
              </a:rPr>
              <a:t>[211421104329</a:t>
            </a:r>
            <a:r>
              <a:rPr lang="en-US" altLang="en-US" b="1" kern="100" dirty="0" smtClean="0">
                <a:effectLst/>
                <a:latin typeface="Times New Roman" panose="02020603050405020304" pitchFamily="18" charset="0"/>
                <a:ea typeface="Calibri" panose="020F0502020204030204" pitchFamily="34" charset="0"/>
                <a:cs typeface="Times New Roman" panose="02020603050405020304" pitchFamily="18" charset="0"/>
                <a:sym typeface="+mn-ea"/>
              </a:rPr>
              <a:t>]</a:t>
            </a:r>
            <a:endParaRPr lang="en-US" altLang="en-US" b="1"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R="122555" algn="ctr">
              <a:lnSpc>
                <a:spcPct val="150000"/>
              </a:lnSpc>
              <a:spcAft>
                <a:spcPts val="800"/>
              </a:spcAft>
            </a:pPr>
            <a:endParaRPr lang="en-US" alt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1418480" y="99322"/>
            <a:ext cx="6133822" cy="1263286"/>
          </a:xfrm>
          <a:prstGeom prst="rect">
            <a:avLst/>
          </a:prstGeom>
        </p:spPr>
      </p:pic>
      <p:sp>
        <p:nvSpPr>
          <p:cNvPr id="6" name="Date Placeholder 5"/>
          <p:cNvSpPr>
            <a:spLocks noGrp="1"/>
          </p:cNvSpPr>
          <p:nvPr>
            <p:ph type="dt" sz="half" idx="10"/>
          </p:nvPr>
        </p:nvSpPr>
        <p:spPr/>
        <p:txBody>
          <a:bodyPr/>
          <a:lstStyle/>
          <a:p>
            <a:fld id="{B1F8A8B3-64F9-4DC5-ACC8-B61CB529DC3B}" type="datetime1">
              <a:rPr lang="en-IN" smtClean="0"/>
            </a:fld>
            <a:endParaRPr lang="en-IN" dirty="0"/>
          </a:p>
        </p:txBody>
      </p:sp>
      <p:sp>
        <p:nvSpPr>
          <p:cNvPr id="10" name="Slide Number Placeholder 9"/>
          <p:cNvSpPr>
            <a:spLocks noGrp="1"/>
          </p:cNvSpPr>
          <p:nvPr>
            <p:ph type="sldNum" sz="quarter" idx="12"/>
          </p:nvPr>
        </p:nvSpPr>
        <p:spPr>
          <a:xfrm>
            <a:off x="6457949" y="6356351"/>
            <a:ext cx="2314273" cy="365125"/>
          </a:xfrm>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8" name="Footer Placeholder 7"/>
          <p:cNvSpPr>
            <a:spLocks noGrp="1"/>
          </p:cNvSpPr>
          <p:nvPr>
            <p:ph type="ftr" sz="quarter" idx="11"/>
          </p:nvPr>
        </p:nvSpPr>
        <p:spPr/>
        <p:txBody>
          <a:bodyPr/>
          <a:lstStyle/>
          <a:p>
            <a:r>
              <a:rPr lang="en-IN" dirty="0"/>
              <a:t>Title of the Project</a:t>
            </a:r>
            <a:endParaRPr lang="en-IN" dirty="0"/>
          </a:p>
        </p:txBody>
      </p:sp>
      <p:sp>
        <p:nvSpPr>
          <p:cNvPr id="4" name="Text Box 3"/>
          <p:cNvSpPr txBox="1"/>
          <p:nvPr/>
        </p:nvSpPr>
        <p:spPr>
          <a:xfrm>
            <a:off x="1031875" y="5709285"/>
            <a:ext cx="3048000" cy="368300"/>
          </a:xfrm>
          <a:prstGeom prst="rect">
            <a:avLst/>
          </a:prstGeom>
          <a:noFill/>
        </p:spPr>
        <p:txBody>
          <a:bodyPr wrap="square" rtlCol="0">
            <a:spAutoFit/>
          </a:bodyPr>
          <a:p>
            <a:r>
              <a:rPr lang="en-US"/>
              <a:t>      Batch No :19</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Abstract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18F0AC4F-8EE2-49E7-816C-79BFA23C6CF7}"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TextBox 4"/>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381318" y="986705"/>
            <a:ext cx="8221908" cy="3831818"/>
          </a:xfrm>
          <a:prstGeom prst="rect">
            <a:avLst/>
          </a:prstGeom>
          <a:noFill/>
        </p:spPr>
        <p:txBody>
          <a:bodyPr wrap="square">
            <a:spAutoFit/>
          </a:bodyPr>
          <a:lstStyle/>
          <a:p>
            <a:pPr algn="just">
              <a:lnSpc>
                <a:spcPct val="150000"/>
              </a:lnSpc>
              <a:buNone/>
            </a:pPr>
            <a:r>
              <a:rPr lang="en-US" altLang="en-US" dirty="0">
                <a:latin typeface="Times New Roman" panose="02020603050405020304" pitchFamily="18" charset="0"/>
                <a:cs typeface="Times New Roman" panose="02020603050405020304" pitchFamily="18" charset="0"/>
              </a:rPr>
              <a:t>A widespread mistrust towards the traditional voting system has made democratic voting in any country very critical. </a:t>
            </a:r>
            <a:r>
              <a:rPr lang="en-US" altLang="en-US" dirty="0" smtClean="0">
                <a:latin typeface="Times New Roman" panose="02020603050405020304" pitchFamily="18" charset="0"/>
                <a:cs typeface="Times New Roman" panose="02020603050405020304" pitchFamily="18" charset="0"/>
              </a:rPr>
              <a:t>The </a:t>
            </a:r>
            <a:r>
              <a:rPr lang="en-US" altLang="en-US" dirty="0">
                <a:latin typeface="Times New Roman" panose="02020603050405020304" pitchFamily="18" charset="0"/>
                <a:cs typeface="Times New Roman" panose="02020603050405020304" pitchFamily="18" charset="0"/>
              </a:rPr>
              <a:t>Chain Security Algorithm applied in the voting system makes the voting transaction more secure. </a:t>
            </a:r>
            <a:r>
              <a:rPr lang="en-US" altLang="en-US" dirty="0" smtClean="0">
                <a:latin typeface="Times New Roman" panose="02020603050405020304" pitchFamily="18" charset="0"/>
                <a:cs typeface="Times New Roman" panose="02020603050405020304" pitchFamily="18" charset="0"/>
              </a:rPr>
              <a:t>The </a:t>
            </a:r>
            <a:r>
              <a:rPr lang="en-US" altLang="en-US" dirty="0">
                <a:latin typeface="Times New Roman" panose="02020603050405020304" pitchFamily="18" charset="0"/>
                <a:cs typeface="Times New Roman" panose="02020603050405020304" pitchFamily="18" charset="0"/>
              </a:rPr>
              <a:t>security of the blockchain based voting system has also been discussed. Additionally, encryption of transactions using cryptographic hash and prevention of attack 51% on the blockchain has also been elaborated. Furthermore, the methodology for carrying out blockchain transactions during the process of voting has been elaborated using Blockchain Finally, the performance evaluation of the proposed system shows that the system can be implemented in a large-scale population.</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Introduction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C977F947-1F31-4877-9EB8-5993283EF907}"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TextBox 4"/>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363386" y="997161"/>
            <a:ext cx="8647878" cy="3831818"/>
          </a:xfrm>
          <a:prstGeom prst="rect">
            <a:avLst/>
          </a:prstGeom>
          <a:noFill/>
        </p:spPr>
        <p:txBody>
          <a:bodyPr wrap="square">
            <a:spAutoFit/>
          </a:bodyPr>
          <a:lstStyle/>
          <a:p>
            <a:pPr indent="457200" algn="just">
              <a:lnSpc>
                <a:spcPct val="150000"/>
              </a:lnSpc>
              <a:spcAft>
                <a:spcPts val="1000"/>
              </a:spcAft>
            </a:pP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Blockchain can reduce a lot of efforts and resources invested in polling stations, specifying the areas, appointing staff, and preventing security risks at polling stations </a:t>
            </a:r>
            <a:r>
              <a:rPr lang="en-US" alt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Holding a digital election through blockchain not only saves money but also reduces the risk of inequity in the voting process </a:t>
            </a:r>
            <a:r>
              <a:rPr lang="en-US" alt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Modern technologies such as blockchain technology are very secure and bene_cial if used carefully. It can make the voting system more transparent, reliable, and also enhance traceability of transactions </a:t>
            </a:r>
            <a:r>
              <a:rPr lang="en-US" alt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 Therefore</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 using Blockchain technology in the voting system assures that it will be more trustable, secure and consistent as compare to other digital voting systems. Blockchain technology can carry out a transparent voting process while maintaining voter privacy and trust.</a:t>
            </a:r>
            <a:endPar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Objective of the Project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E240EEE6-4B32-429E-9D31-2A4B6FDCD129}" type="datetime1">
              <a:rPr lang="en-IN" smtClean="0"/>
            </a:fld>
            <a:endParaRPr lang="en-IN"/>
          </a:p>
        </p:txBody>
      </p:sp>
      <p:sp>
        <p:nvSpPr>
          <p:cNvPr id="4" name="Slide Number Placeholder 3"/>
          <p:cNvSpPr>
            <a:spLocks noGrp="1"/>
          </p:cNvSpPr>
          <p:nvPr>
            <p:ph type="sldNum" sz="quarter" idx="12"/>
          </p:nvPr>
        </p:nvSpPr>
        <p:spPr>
          <a:xfrm>
            <a:off x="6457949" y="6356351"/>
            <a:ext cx="2353541" cy="365125"/>
          </a:xfrm>
        </p:spPr>
        <p:txBody>
          <a:bodyPr/>
          <a:lstStyle/>
          <a:p>
            <a:fld id="{9D3FF152-60F5-4862-82F9-1190556AA56F}" type="slidenum">
              <a:rPr lang="en-IN" sz="1400" b="1" smtClean="0">
                <a:solidFill>
                  <a:schemeClr val="tx1"/>
                </a:solidFill>
              </a:rPr>
            </a:fld>
            <a:endParaRPr lang="en-IN"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7" name="TextBox 6"/>
          <p:cNvSpPr txBox="1"/>
          <p:nvPr/>
        </p:nvSpPr>
        <p:spPr>
          <a:xfrm>
            <a:off x="512736" y="1303339"/>
            <a:ext cx="8007350" cy="3735766"/>
          </a:xfrm>
          <a:prstGeom prst="rect">
            <a:avLst/>
          </a:prstGeom>
          <a:noFill/>
        </p:spPr>
        <p:txBody>
          <a:bodyPr wrap="square">
            <a:spAutoFit/>
          </a:bodyPr>
          <a:lstStyle/>
          <a:p>
            <a:pPr>
              <a:lnSpc>
                <a:spcPct val="107000"/>
              </a:lnSpc>
              <a:spcAft>
                <a:spcPts val="800"/>
              </a:spcAf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Project Scope: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The proposed system is the verified online voting system with user face  using aadhaar card. It determines the particular voter by his/her face whether he/she is a valid voter or not. It allows particular voter to cast the vote online. The polling process continues until the voting time  ends and update the database in the server. A online voting system uses aadhaar card to retrieve the complete details about the voter. And the votes are stored in a block chain server and viewed to the public this ensure a your  environment.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9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F2382B28-C76E-421D-85B3-89C9075D36D4}" type="datetime1">
              <a:rPr lang="en-IN" smtClean="0"/>
            </a:fld>
            <a:endParaRPr lang="en-IN"/>
          </a:p>
        </p:txBody>
      </p:sp>
      <p:sp>
        <p:nvSpPr>
          <p:cNvPr id="6" name="Slide Number Placeholder 5"/>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3" name="Footer Placeholder 2"/>
          <p:cNvSpPr>
            <a:spLocks noGrp="1"/>
          </p:cNvSpPr>
          <p:nvPr>
            <p:ph type="ftr" sz="quarter" idx="11"/>
          </p:nvPr>
        </p:nvSpPr>
        <p:spPr/>
        <p:txBody>
          <a:bodyPr/>
          <a:lstStyle/>
          <a:p>
            <a:r>
              <a:rPr lang="en-IN"/>
              <a:t>Title of the Project</a:t>
            </a:r>
            <a:endParaRPr lang="en-IN"/>
          </a:p>
        </p:txBody>
      </p:sp>
      <p:graphicFrame>
        <p:nvGraphicFramePr>
          <p:cNvPr id="7" name="Table 6"/>
          <p:cNvGraphicFramePr>
            <a:graphicFrameLocks noGrp="1"/>
          </p:cNvGraphicFramePr>
          <p:nvPr>
            <p:custDataLst>
              <p:tags r:id="rId1"/>
            </p:custDataLst>
          </p:nvPr>
        </p:nvGraphicFramePr>
        <p:xfrm>
          <a:off x="172720" y="701675"/>
          <a:ext cx="8798560" cy="5160740"/>
        </p:xfrm>
        <a:graphic>
          <a:graphicData uri="http://schemas.openxmlformats.org/drawingml/2006/table">
            <a:tbl>
              <a:tblPr firstRow="1" bandRow="1">
                <a:tableStyleId>{5C22544A-7EE6-4342-B048-85BDC9FD1C3A}</a:tableStyleId>
              </a:tblPr>
              <a:tblGrid>
                <a:gridCol w="538480"/>
                <a:gridCol w="2062480"/>
                <a:gridCol w="2397760"/>
                <a:gridCol w="1665196"/>
                <a:gridCol w="1016409"/>
                <a:gridCol w="1118235"/>
              </a:tblGrid>
              <a:tr h="1145540">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Authors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Source</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Pages</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Date</a:t>
                      </a:r>
                      <a:endParaRPr lang="en-IN" sz="1800" dirty="0">
                        <a:latin typeface="Times New Roman" panose="02020603050405020304" pitchFamily="18" charset="0"/>
                        <a:cs typeface="Times New Roman" panose="02020603050405020304" pitchFamily="18" charset="0"/>
                      </a:endParaRPr>
                    </a:p>
                  </a:txBody>
                  <a:tcPr/>
                </a:tc>
              </a:tr>
              <a:tr h="1417278">
                <a:tc>
                  <a:txBody>
                    <a:bodyPr/>
                    <a:lstStyle/>
                    <a:p>
                      <a:pPr>
                        <a:lnSpc>
                          <a:spcPct val="150000"/>
                        </a:lnSpc>
                      </a:pPr>
                      <a:endParaRPr lang="en-US" sz="1800" dirty="0" smtClean="0">
                        <a:latin typeface="Times New Roman" panose="02020603050405020304" pitchFamily="18" charset="0"/>
                        <a:cs typeface="Times New Roman" panose="02020603050405020304" pitchFamily="18" charset="0"/>
                      </a:endParaRPr>
                    </a:p>
                    <a:p>
                      <a:pPr>
                        <a:lnSpc>
                          <a:spcPct val="150000"/>
                        </a:lnSpc>
                      </a:pPr>
                      <a:r>
                        <a:rPr lang="en-US" sz="1800" dirty="0" smtClean="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sz="1800">
                          <a:latin typeface="Times New Roman" panose="02020603050405020304" pitchFamily="18" charset="0"/>
                          <a:cs typeface="Times New Roman" panose="02020603050405020304" pitchFamily="18" charset="0"/>
                        </a:rPr>
                        <a:t>Ashok Kumar, T. Ummal Sariba Begum</a:t>
                      </a:r>
                      <a:endParaRPr sz="1800">
                        <a:latin typeface="Times New Roman" panose="02020603050405020304" pitchFamily="18" charset="0"/>
                        <a:cs typeface="Times New Roman" panose="02020603050405020304" pitchFamily="18" charset="0"/>
                      </a:endParaRPr>
                    </a:p>
                  </a:txBody>
                  <a:tcPr marL="0" marR="0" marT="0" marB="0"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Secure Internet Voting System Based on Biometrics</a:t>
                      </a:r>
                      <a:endParaRPr lang="en-US" altLang="en-US" sz="1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Proc. Int. Conf. on Biometrics and Security</a:t>
                      </a:r>
                      <a:endParaRPr lang="en-US" altLang="en-US" sz="1800" dirty="0">
                        <a:latin typeface="Times New Roman" panose="02020603050405020304" pitchFamily="18" charset="0"/>
                        <a:cs typeface="Times New Roman" panose="02020603050405020304" pitchFamily="18" charset="0"/>
                      </a:endParaRPr>
                    </a:p>
                  </a:txBody>
                  <a:tcPr/>
                </a:tc>
                <a:tc>
                  <a:txBody>
                    <a:bodyPr/>
                    <a:lstStyle/>
                    <a:p>
                      <a:pPr algn="ctr"/>
                      <a:r>
                        <a:rPr sz="1800">
                          <a:latin typeface="Times New Roman" panose="02020603050405020304" pitchFamily="18" charset="0"/>
                          <a:cs typeface="Times New Roman" panose="02020603050405020304" pitchFamily="18" charset="0"/>
                        </a:rPr>
                        <a:t>125-132</a:t>
                      </a:r>
                      <a:endParaRPr sz="1800">
                        <a:latin typeface="Times New Roman" panose="02020603050405020304" pitchFamily="18" charset="0"/>
                        <a:cs typeface="Times New Roman" panose="02020603050405020304" pitchFamily="18" charset="0"/>
                      </a:endParaRPr>
                    </a:p>
                  </a:txBody>
                  <a:tcPr marL="0" marR="0" marT="0" marB="0" anchor="ctr"/>
                </a:tc>
                <a:tc>
                  <a:txBody>
                    <a:bodyPr/>
                    <a:lstStyle/>
                    <a:p>
                      <a:pPr algn="ctr">
                        <a:lnSpc>
                          <a:spcPct val="150000"/>
                        </a:lnSpc>
                      </a:pPr>
                      <a:endParaRPr lang="en-US" altLang="en-US" sz="1800" dirty="0" smtClean="0">
                        <a:latin typeface="Times New Roman" panose="02020603050405020304" pitchFamily="18" charset="0"/>
                        <a:cs typeface="Times New Roman" panose="02020603050405020304" pitchFamily="18" charset="0"/>
                      </a:endParaRPr>
                    </a:p>
                    <a:p>
                      <a:pPr algn="ctr">
                        <a:lnSpc>
                          <a:spcPct val="150000"/>
                        </a:lnSpc>
                      </a:pPr>
                      <a:r>
                        <a:rPr lang="en-US" altLang="en-US" sz="1800" dirty="0" smtClean="0">
                          <a:latin typeface="Times New Roman" panose="02020603050405020304" pitchFamily="18" charset="0"/>
                          <a:cs typeface="Times New Roman" panose="02020603050405020304" pitchFamily="18" charset="0"/>
                        </a:rPr>
                        <a:t>2012</a:t>
                      </a:r>
                      <a:endParaRPr lang="en-US" altLang="en-US" sz="1800" dirty="0">
                        <a:latin typeface="Times New Roman" panose="02020603050405020304" pitchFamily="18" charset="0"/>
                        <a:cs typeface="Times New Roman" panose="02020603050405020304" pitchFamily="18" charset="0"/>
                      </a:endParaRPr>
                    </a:p>
                  </a:txBody>
                  <a:tcPr/>
                </a:tc>
              </a:tr>
              <a:tr h="1418602">
                <a:tc>
                  <a:txBody>
                    <a:bodyPr/>
                    <a:lstStyle/>
                    <a:p>
                      <a:pPr>
                        <a:lnSpc>
                          <a:spcPct val="150000"/>
                        </a:lnSpc>
                      </a:pPr>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Sujith Samuel Mathew, K. Radhakrishnan</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An Efficient and Secure Mobile Voting System</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Journal of Mobile Security and Privacy</a:t>
                      </a:r>
                      <a:endParaRPr lang="en-US" altLang="en-US" sz="180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241-249</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2013</a:t>
                      </a:r>
                      <a:endParaRPr lang="en-US" altLang="en-US" sz="1800" dirty="0">
                        <a:latin typeface="Times New Roman" panose="02020603050405020304" pitchFamily="18" charset="0"/>
                        <a:cs typeface="Times New Roman" panose="02020603050405020304" pitchFamily="18" charset="0"/>
                      </a:endParaRPr>
                    </a:p>
                  </a:txBody>
                  <a:tcPr anchor="ctr"/>
                </a:tc>
              </a:tr>
              <a:tr h="1179320">
                <a:tc>
                  <a:txBody>
                    <a:bodyPr/>
                    <a:lstStyle/>
                    <a:p>
                      <a:pPr>
                        <a:lnSpc>
                          <a:spcPct val="150000"/>
                        </a:lnSpc>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a:r>
                        <a:rPr sz="1800">
                          <a:latin typeface="Times New Roman" panose="02020603050405020304" pitchFamily="18" charset="0"/>
                          <a:cs typeface="Times New Roman" panose="02020603050405020304" pitchFamily="18" charset="0"/>
                        </a:rPr>
                        <a:t>W. Zhao, R. Chellappa, P. J. Phillips, A. Rosenfeld</a:t>
                      </a:r>
                      <a:endParaRPr sz="1800">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en-US" altLang="en-US" sz="1800">
                          <a:latin typeface="Times New Roman" panose="02020603050405020304" pitchFamily="18" charset="0"/>
                          <a:cs typeface="Times New Roman" panose="02020603050405020304" pitchFamily="18" charset="0"/>
                        </a:rPr>
                        <a:t>Face Recognition: A Literature Survey</a:t>
                      </a:r>
                      <a:endParaRPr lang="en-US" altLang="en-US" sz="1800">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en-US" altLang="en-US" sz="1800">
                          <a:latin typeface="Times New Roman" panose="02020603050405020304" pitchFamily="18" charset="0"/>
                          <a:cs typeface="Times New Roman" panose="02020603050405020304" pitchFamily="18" charset="0"/>
                        </a:rPr>
                        <a:t>ACM Computing Surveys</a:t>
                      </a:r>
                      <a:endParaRPr lang="en-US" altLang="en-US" sz="1800">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en-US" altLang="en-US" sz="1800" dirty="0" smtClean="0">
                          <a:latin typeface="Times New Roman" panose="02020603050405020304" pitchFamily="18" charset="0"/>
                          <a:cs typeface="Times New Roman" panose="02020603050405020304" pitchFamily="18" charset="0"/>
                        </a:rPr>
                        <a:t> 399-458</a:t>
                      </a:r>
                      <a:r>
                        <a:rPr lang="en-US" altLang="en-US" sz="1800" dirty="0">
                          <a:latin typeface="Times New Roman" panose="02020603050405020304" pitchFamily="18" charset="0"/>
                          <a:cs typeface="Times New Roman" panose="02020603050405020304" pitchFamily="18" charset="0"/>
                        </a:rPr>
                        <a:t>	</a:t>
                      </a:r>
                      <a:endParaRPr lang="en-US" altLang="en-US" sz="18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en-US" sz="1800" dirty="0">
                          <a:latin typeface="Times New Roman" panose="02020603050405020304" pitchFamily="18" charset="0"/>
                          <a:cs typeface="Times New Roman" panose="02020603050405020304" pitchFamily="18" charset="0"/>
                        </a:rPr>
                        <a:t>2003</a:t>
                      </a:r>
                      <a:endParaRPr lang="en-US" sz="1800" dirty="0">
                        <a:latin typeface="Times New Roman" panose="02020603050405020304" pitchFamily="18" charset="0"/>
                        <a:cs typeface="Times New Roman" panose="02020603050405020304" pitchFamily="18" charset="0"/>
                      </a:endParaRPr>
                    </a:p>
                    <a:p>
                      <a:pPr algn="ctr"/>
                      <a:endParaRPr lang="en-US" sz="1800" dirty="0">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AFFC6AC0-F66E-4680-867A-834DA76782D9}" type="datetime1">
              <a:rPr lang="en-IN" smtClean="0"/>
            </a:fld>
            <a:endParaRPr lang="en-IN"/>
          </a:p>
        </p:txBody>
      </p:sp>
      <p:sp>
        <p:nvSpPr>
          <p:cNvPr id="6" name="Slide Number Placeholder 5"/>
          <p:cNvSpPr>
            <a:spLocks noGrp="1"/>
          </p:cNvSpPr>
          <p:nvPr>
            <p:ph type="sldNum" sz="quarter" idx="12"/>
          </p:nvPr>
        </p:nvSpPr>
        <p:spPr>
          <a:xfrm>
            <a:off x="6634596" y="6326884"/>
            <a:ext cx="2057400" cy="365125"/>
          </a:xfrm>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3" name="Footer Placeholder 2"/>
          <p:cNvSpPr>
            <a:spLocks noGrp="1"/>
          </p:cNvSpPr>
          <p:nvPr>
            <p:ph type="ftr" sz="quarter" idx="11"/>
          </p:nvPr>
        </p:nvSpPr>
        <p:spPr/>
        <p:txBody>
          <a:bodyPr/>
          <a:lstStyle/>
          <a:p>
            <a:r>
              <a:rPr lang="en-IN"/>
              <a:t>Title of the Project</a:t>
            </a:r>
            <a:endParaRPr lang="en-IN"/>
          </a:p>
        </p:txBody>
      </p:sp>
      <p:graphicFrame>
        <p:nvGraphicFramePr>
          <p:cNvPr id="4" name="Table 3"/>
          <p:cNvGraphicFramePr>
            <a:graphicFrameLocks noGrp="1"/>
          </p:cNvGraphicFramePr>
          <p:nvPr/>
        </p:nvGraphicFramePr>
        <p:xfrm>
          <a:off x="233680" y="970280"/>
          <a:ext cx="8641078" cy="5356288"/>
        </p:xfrm>
        <a:graphic>
          <a:graphicData uri="http://schemas.openxmlformats.org/drawingml/2006/table">
            <a:tbl>
              <a:tblPr firstRow="1" bandRow="1">
                <a:tableStyleId>{5C22544A-7EE6-4342-B048-85BDC9FD1C3A}</a:tableStyleId>
              </a:tblPr>
              <a:tblGrid>
                <a:gridCol w="576411"/>
                <a:gridCol w="1856761"/>
                <a:gridCol w="2438274"/>
                <a:gridCol w="1775145"/>
                <a:gridCol w="1030400"/>
                <a:gridCol w="964087"/>
              </a:tblGrid>
              <a:tr h="749620">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Authors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Source</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Pages</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Date</a:t>
                      </a:r>
                      <a:endParaRPr lang="en-IN" sz="1400" dirty="0">
                        <a:latin typeface="Times New Roman" panose="02020603050405020304" pitchFamily="18" charset="0"/>
                        <a:cs typeface="Times New Roman" panose="02020603050405020304" pitchFamily="18" charset="0"/>
                      </a:endParaRPr>
                    </a:p>
                  </a:txBody>
                  <a:tcPr/>
                </a:tc>
              </a:tr>
              <a:tr h="1441767">
                <a:tc>
                  <a:txBody>
                    <a:bodyPr/>
                    <a:lstStyle/>
                    <a:p>
                      <a:pPr algn="ctr">
                        <a:lnSpc>
                          <a:spcPct val="150000"/>
                        </a:lnSpc>
                      </a:pPr>
                      <a:endParaRPr lang="en-US" sz="1800" dirty="0" smtClean="0">
                        <a:latin typeface="Times New Roman" panose="02020603050405020304" pitchFamily="18" charset="0"/>
                        <a:cs typeface="Times New Roman" panose="02020603050405020304" pitchFamily="18" charset="0"/>
                      </a:endParaRPr>
                    </a:p>
                    <a:p>
                      <a:pPr algn="ctr">
                        <a:lnSpc>
                          <a:spcPct val="150000"/>
                        </a:lnSpc>
                      </a:pPr>
                      <a:r>
                        <a:rPr lang="en-US" sz="1800" dirty="0" smtClean="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Omkar M. Parkhi, Andrea Vedaldi, Andrew Zisserman</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Deep Learning-Based Face Recognition: A Survey</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IEEE Trans. Pattern Analysis &amp; Machine Intelligence</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sz="1800">
                          <a:latin typeface="Times New Roman" panose="02020603050405020304" pitchFamily="18" charset="0"/>
                          <a:cs typeface="Times New Roman" panose="02020603050405020304" pitchFamily="18" charset="0"/>
                        </a:rPr>
                        <a:t>839-858</a:t>
                      </a:r>
                      <a:endParaRPr sz="1800">
                        <a:latin typeface="Times New Roman" panose="02020603050405020304" pitchFamily="18" charset="0"/>
                        <a:cs typeface="Times New Roman" panose="02020603050405020304" pitchFamily="18" charset="0"/>
                      </a:endParaRPr>
                    </a:p>
                  </a:txBody>
                  <a:tcPr marL="0" marR="0" marT="0" marB="0"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2015</a:t>
                      </a:r>
                      <a:endParaRPr lang="en-US" altLang="en-US" sz="1800" dirty="0">
                        <a:latin typeface="Times New Roman" panose="02020603050405020304" pitchFamily="18" charset="0"/>
                        <a:cs typeface="Times New Roman" panose="02020603050405020304" pitchFamily="18" charset="0"/>
                      </a:endParaRPr>
                    </a:p>
                  </a:txBody>
                  <a:tcPr anchor="ctr"/>
                </a:tc>
              </a:tr>
              <a:tr h="1441767">
                <a:tc>
                  <a:txBody>
                    <a:bodyPr/>
                    <a:lstStyle/>
                    <a:p>
                      <a:pPr algn="ctr">
                        <a:lnSpc>
                          <a:spcPct val="150000"/>
                        </a:lnSpc>
                      </a:pPr>
                      <a:endParaRPr lang="en-US" sz="1800" dirty="0" smtClean="0">
                        <a:latin typeface="Times New Roman" panose="02020603050405020304" pitchFamily="18" charset="0"/>
                        <a:cs typeface="Times New Roman" panose="02020603050405020304" pitchFamily="18" charset="0"/>
                      </a:endParaRPr>
                    </a:p>
                    <a:p>
                      <a:pPr algn="ctr">
                        <a:lnSpc>
                          <a:spcPct val="150000"/>
                        </a:lnSpc>
                      </a:pPr>
                      <a:r>
                        <a:rPr lang="en-US" sz="1800" dirty="0" smtClean="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Shahana T., Dinesh Kumar G.</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smtClean="0">
                          <a:latin typeface="Times New Roman" panose="02020603050405020304" pitchFamily="18" charset="0"/>
                          <a:cs typeface="Times New Roman" panose="02020603050405020304" pitchFamily="18" charset="0"/>
                        </a:rPr>
                        <a:t>Block chain-Based </a:t>
                      </a:r>
                      <a:r>
                        <a:rPr lang="en-US" altLang="en-US" sz="1800" dirty="0">
                          <a:latin typeface="Times New Roman" panose="02020603050405020304" pitchFamily="18" charset="0"/>
                          <a:cs typeface="Times New Roman" panose="02020603050405020304" pitchFamily="18" charset="0"/>
                        </a:rPr>
                        <a:t>Secure Voting System</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IEEE Int. Conf. on </a:t>
                      </a:r>
                      <a:r>
                        <a:rPr lang="en-US" altLang="en-US" sz="1800" dirty="0" smtClean="0">
                          <a:latin typeface="Times New Roman" panose="02020603050405020304" pitchFamily="18" charset="0"/>
                          <a:cs typeface="Times New Roman" panose="02020603050405020304" pitchFamily="18" charset="0"/>
                        </a:rPr>
                        <a:t>Block chain </a:t>
                      </a:r>
                      <a:r>
                        <a:rPr lang="en-US" altLang="en-US" sz="1800" dirty="0">
                          <a:latin typeface="Times New Roman" panose="02020603050405020304" pitchFamily="18" charset="0"/>
                          <a:cs typeface="Times New Roman" panose="02020603050405020304" pitchFamily="18" charset="0"/>
                        </a:rPr>
                        <a:t>Applications</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155-162</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2018</a:t>
                      </a:r>
                      <a:endParaRPr lang="en-US" altLang="en-US" sz="1800">
                        <a:latin typeface="Times New Roman" panose="02020603050405020304" pitchFamily="18" charset="0"/>
                        <a:cs typeface="Times New Roman" panose="02020603050405020304" pitchFamily="18" charset="0"/>
                      </a:endParaRPr>
                    </a:p>
                  </a:txBody>
                  <a:tcPr anchor="ctr"/>
                </a:tc>
              </a:tr>
              <a:tr h="1441767">
                <a:tc>
                  <a:txBody>
                    <a:bodyPr/>
                    <a:lstStyle/>
                    <a:p>
                      <a:pPr algn="ctr">
                        <a:lnSpc>
                          <a:spcPct val="150000"/>
                        </a:lnSpc>
                      </a:pPr>
                      <a:endParaRPr lang="en-US" sz="1800" dirty="0" smtClean="0">
                        <a:latin typeface="Times New Roman" panose="02020603050405020304" pitchFamily="18" charset="0"/>
                        <a:cs typeface="Times New Roman" panose="02020603050405020304" pitchFamily="18" charset="0"/>
                      </a:endParaRPr>
                    </a:p>
                    <a:p>
                      <a:pPr algn="ctr">
                        <a:lnSpc>
                          <a:spcPct val="150000"/>
                        </a:lnSpc>
                      </a:pPr>
                      <a:r>
                        <a:rPr lang="en-US" sz="1800" dirty="0" smtClean="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Peter Y. A. Ryan, Vanessa Teague</a:t>
                      </a:r>
                      <a:endParaRPr lang="en-US" altLang="en-US" sz="180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Blockchain for Voting: A Systematic Review</a:t>
                      </a:r>
                      <a:endParaRPr lang="en-US" altLang="en-US" sz="180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IEEE Journal on </a:t>
                      </a:r>
                      <a:r>
                        <a:rPr lang="en-US" altLang="en-US" sz="1800" dirty="0" smtClean="0">
                          <a:latin typeface="Times New Roman" panose="02020603050405020304" pitchFamily="18" charset="0"/>
                          <a:cs typeface="Times New Roman" panose="02020603050405020304" pitchFamily="18" charset="0"/>
                        </a:rPr>
                        <a:t>Block chain </a:t>
                      </a:r>
                      <a:r>
                        <a:rPr lang="en-US" altLang="en-US" sz="1800" dirty="0">
                          <a:latin typeface="Times New Roman" panose="02020603050405020304" pitchFamily="18" charset="0"/>
                          <a:cs typeface="Times New Roman" panose="02020603050405020304" pitchFamily="18" charset="0"/>
                        </a:rPr>
                        <a:t>and Voting</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211-224</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2020</a:t>
                      </a:r>
                      <a:endParaRPr lang="en-US" altLang="en-US" sz="1800"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a:xfrm>
            <a:off x="628650" y="6364897"/>
            <a:ext cx="2057400" cy="365125"/>
          </a:xfrm>
        </p:spPr>
        <p:txBody>
          <a:bodyPr/>
          <a:lstStyle/>
          <a:p>
            <a:fld id="{4ACA647B-CC1E-4879-8F53-17A93E4F0425}" type="datetime1">
              <a:rPr lang="en-IN" smtClean="0"/>
            </a:fld>
            <a:endParaRPr lang="en-IN"/>
          </a:p>
        </p:txBody>
      </p:sp>
      <p:sp>
        <p:nvSpPr>
          <p:cNvPr id="6" name="Slide Number Placeholder 5"/>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3" name="Footer Placeholder 2"/>
          <p:cNvSpPr>
            <a:spLocks noGrp="1"/>
          </p:cNvSpPr>
          <p:nvPr>
            <p:ph type="ftr" sz="quarter" idx="11"/>
          </p:nvPr>
        </p:nvSpPr>
        <p:spPr/>
        <p:txBody>
          <a:bodyPr/>
          <a:lstStyle/>
          <a:p>
            <a:r>
              <a:rPr lang="en-IN" dirty="0"/>
              <a:t>Title of the Project</a:t>
            </a:r>
            <a:endParaRPr lang="en-IN" dirty="0"/>
          </a:p>
        </p:txBody>
      </p:sp>
      <p:graphicFrame>
        <p:nvGraphicFramePr>
          <p:cNvPr id="4" name="Table 3"/>
          <p:cNvGraphicFramePr>
            <a:graphicFrameLocks noGrp="1"/>
          </p:cNvGraphicFramePr>
          <p:nvPr/>
        </p:nvGraphicFramePr>
        <p:xfrm>
          <a:off x="182880" y="970280"/>
          <a:ext cx="8783955" cy="5212080"/>
        </p:xfrm>
        <a:graphic>
          <a:graphicData uri="http://schemas.openxmlformats.org/drawingml/2006/table">
            <a:tbl>
              <a:tblPr firstRow="1" bandRow="1">
                <a:tableStyleId>{5C22544A-7EE6-4342-B048-85BDC9FD1C3A}</a:tableStyleId>
              </a:tblPr>
              <a:tblGrid>
                <a:gridCol w="350344"/>
                <a:gridCol w="2056152"/>
                <a:gridCol w="2709017"/>
                <a:gridCol w="1845891"/>
                <a:gridCol w="1002138"/>
                <a:gridCol w="820413"/>
              </a:tblGrid>
              <a:tr h="762962">
                <a:tc>
                  <a:txBody>
                    <a:bodyPr/>
                    <a:lstStyle/>
                    <a:p>
                      <a:pPr>
                        <a:lnSpc>
                          <a:spcPct val="150000"/>
                        </a:lnSpc>
                      </a:pP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Authors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Source</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Pages</a:t>
                      </a:r>
                      <a:r>
                        <a:rPr lang="en-IN" sz="1400"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Date</a:t>
                      </a:r>
                      <a:endParaRPr lang="en-IN" sz="1400" dirty="0">
                        <a:latin typeface="Times New Roman" panose="02020603050405020304" pitchFamily="18" charset="0"/>
                        <a:cs typeface="Times New Roman" panose="02020603050405020304" pitchFamily="18" charset="0"/>
                      </a:endParaRPr>
                    </a:p>
                  </a:txBody>
                  <a:tcPr/>
                </a:tc>
              </a:tr>
              <a:tr h="863398">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Abdou M., Zahri Y., Karmouch A.</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A </a:t>
                      </a:r>
                      <a:r>
                        <a:rPr lang="en-US" altLang="en-US" sz="1800" dirty="0" smtClean="0">
                          <a:latin typeface="Times New Roman" panose="02020603050405020304" pitchFamily="18" charset="0"/>
                          <a:cs typeface="Times New Roman" panose="02020603050405020304" pitchFamily="18" charset="0"/>
                        </a:rPr>
                        <a:t>Block chain-based </a:t>
                      </a:r>
                      <a:r>
                        <a:rPr lang="en-US" altLang="en-US" sz="1800" dirty="0">
                          <a:latin typeface="Times New Roman" panose="02020603050405020304" pitchFamily="18" charset="0"/>
                          <a:cs typeface="Times New Roman" panose="02020603050405020304" pitchFamily="18" charset="0"/>
                        </a:rPr>
                        <a:t>E-voting System using Ethereum</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Proc. IEEE Int. Conf. on Smart Contracts</a:t>
                      </a:r>
                      <a:endParaRPr lang="en-US" altLang="en-US" sz="180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311-318</a:t>
                      </a:r>
                      <a:endParaRPr lang="en-US" altLang="en-US" sz="180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a:latin typeface="Times New Roman" panose="02020603050405020304" pitchFamily="18" charset="0"/>
                          <a:cs typeface="Times New Roman" panose="02020603050405020304" pitchFamily="18" charset="0"/>
                        </a:rPr>
                        <a:t>2018</a:t>
                      </a:r>
                      <a:endParaRPr lang="en-US" altLang="en-US" sz="1800">
                        <a:latin typeface="Times New Roman" panose="02020603050405020304" pitchFamily="18" charset="0"/>
                        <a:cs typeface="Times New Roman" panose="02020603050405020304" pitchFamily="18" charset="0"/>
                      </a:endParaRPr>
                    </a:p>
                  </a:txBody>
                  <a:tcPr anchor="ctr"/>
                </a:tc>
              </a:tr>
              <a:tr h="1262000">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Jayant N., Ashish J. </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smtClean="0">
                          <a:latin typeface="Times New Roman" panose="02020603050405020304" pitchFamily="18" charset="0"/>
                          <a:cs typeface="Times New Roman" panose="02020603050405020304" pitchFamily="18" charset="0"/>
                        </a:rPr>
                        <a:t>Block chain-based </a:t>
                      </a:r>
                      <a:r>
                        <a:rPr lang="en-US" altLang="en-US" sz="1800" dirty="0">
                          <a:latin typeface="Times New Roman" panose="02020603050405020304" pitchFamily="18" charset="0"/>
                          <a:cs typeface="Times New Roman" panose="02020603050405020304" pitchFamily="18" charset="0"/>
                        </a:rPr>
                        <a:t>E-voting System using Biometric Authentication</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Int. Journal of Secure Computing</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117-124</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2020</a:t>
                      </a:r>
                      <a:endParaRPr lang="en-US" altLang="en-US" sz="1800" dirty="0">
                        <a:latin typeface="Times New Roman" panose="02020603050405020304" pitchFamily="18" charset="0"/>
                        <a:cs typeface="Times New Roman" panose="02020603050405020304" pitchFamily="18" charset="0"/>
                      </a:endParaRPr>
                    </a:p>
                  </a:txBody>
                  <a:tcPr anchor="ctr"/>
                </a:tc>
              </a:tr>
              <a:tr h="1262000">
                <a:tc>
                  <a:txBody>
                    <a:bodyPr/>
                    <a:lstStyle/>
                    <a:p>
                      <a:pPr algn="ctr">
                        <a:lnSpc>
                          <a:spcPct val="150000"/>
                        </a:lnSpc>
                      </a:pPr>
                      <a:endParaRPr lang="en-US" sz="1800" dirty="0" smtClean="0">
                        <a:latin typeface="Times New Roman" panose="02020603050405020304" pitchFamily="18" charset="0"/>
                        <a:cs typeface="Times New Roman" panose="02020603050405020304" pitchFamily="18" charset="0"/>
                      </a:endParaRPr>
                    </a:p>
                    <a:p>
                      <a:pPr algn="ctr">
                        <a:lnSpc>
                          <a:spcPct val="150000"/>
                        </a:lnSpc>
                      </a:pPr>
                      <a:r>
                        <a:rPr lang="en-US" sz="1800" dirty="0" smtClean="0">
                          <a:latin typeface="Times New Roman" panose="02020603050405020304" pitchFamily="18" charset="0"/>
                          <a:cs typeface="Times New Roman" panose="02020603050405020304" pitchFamily="18" charset="0"/>
                        </a:rPr>
                        <a:t>9</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K. Karthick, G. Karunanithy, S. K. Parvathy</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Blockchain and Facial Recognition-based Secure Voting System</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Proc. IEEE Conf. on Smart Technologies for Secure Voting</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altLang="en-US" sz="1800" dirty="0">
                          <a:latin typeface="Times New Roman" panose="02020603050405020304" pitchFamily="18" charset="0"/>
                          <a:cs typeface="Times New Roman" panose="02020603050405020304" pitchFamily="18" charset="0"/>
                        </a:rPr>
                        <a:t>519-526</a:t>
                      </a:r>
                      <a:endParaRPr lang="en-US" altLang="en-US" sz="1800" dirty="0">
                        <a:latin typeface="Times New Roman" panose="02020603050405020304" pitchFamily="18" charset="0"/>
                        <a:cs typeface="Times New Roman" panose="02020603050405020304" pitchFamily="18" charset="0"/>
                      </a:endParaRPr>
                    </a:p>
                  </a:txBody>
                  <a:tcPr anchor="ctr"/>
                </a:tc>
                <a:tc>
                  <a:txBody>
                    <a:bodyPr/>
                    <a:lstStyle/>
                    <a:p>
                      <a:pPr algn="ctr"/>
                      <a:r>
                        <a:rPr sz="1800">
                          <a:latin typeface="Times New Roman" panose="02020603050405020304" pitchFamily="18" charset="0"/>
                          <a:cs typeface="Times New Roman" panose="02020603050405020304" pitchFamily="18" charset="0"/>
                        </a:rPr>
                        <a:t>2021</a:t>
                      </a:r>
                      <a:endParaRPr sz="1800">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F455D1BD-F729-4AF1-B27A-A2B4224E89E6}" type="datetime1">
              <a:rPr lang="en-IN" smtClean="0"/>
            </a:fld>
            <a:endParaRPr lang="en-IN" dirty="0"/>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Footer Placeholder 4"/>
          <p:cNvSpPr>
            <a:spLocks noGrp="1"/>
          </p:cNvSpPr>
          <p:nvPr>
            <p:ph type="ftr" sz="quarter" idx="11"/>
          </p:nvPr>
        </p:nvSpPr>
        <p:spPr/>
        <p:txBody>
          <a:bodyPr/>
          <a:lstStyle/>
          <a:p>
            <a:r>
              <a:rPr lang="en-IN" dirty="0"/>
              <a:t>Title of the Project</a:t>
            </a:r>
            <a:endParaRPr lang="en-IN" dirty="0"/>
          </a:p>
        </p:txBody>
      </p:sp>
      <p:sp>
        <p:nvSpPr>
          <p:cNvPr id="8" name="TextBox 7"/>
          <p:cNvSpPr txBox="1"/>
          <p:nvPr/>
        </p:nvSpPr>
        <p:spPr>
          <a:xfrm>
            <a:off x="499110" y="801392"/>
            <a:ext cx="7752080" cy="5816977"/>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Problem </a:t>
            </a:r>
            <a:r>
              <a:rPr lang="en-US" b="1" dirty="0" smtClean="0">
                <a:latin typeface="Times New Roman" panose="02020603050405020304" pitchFamily="18" charset="0"/>
                <a:cs typeface="Times New Roman" panose="02020603050405020304" pitchFamily="18" charset="0"/>
              </a:rPr>
              <a:t>Statements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1.Voter Fraud and Impersonation: Current online voting systems lack robust voter authentication mechanisms, leading to potential impersonation and unauthorized access, compromising the integrity of the election</a:t>
            </a:r>
            <a:r>
              <a:rPr lang="en-US" altLang="en-US" sz="1600" dirty="0" smtClean="0">
                <a:latin typeface="Times New Roman" panose="02020603050405020304" pitchFamily="18" charset="0"/>
                <a:cs typeface="Times New Roman" panose="02020603050405020304" pitchFamily="18" charset="0"/>
              </a:rPr>
              <a:t>.</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2.Lack of Vote Security: Votes are vulnerable to tampering, manipulation, and loss, casting doubts on the reliability of the voting process and the authenticity of the results</a:t>
            </a:r>
            <a:r>
              <a:rPr lang="en-US" altLang="en-US" sz="1600" dirty="0" smtClean="0">
                <a:latin typeface="Times New Roman" panose="02020603050405020304" pitchFamily="18" charset="0"/>
                <a:cs typeface="Times New Roman" panose="02020603050405020304" pitchFamily="18" charset="0"/>
              </a:rPr>
              <a:t>.</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3.Absence of Immutable Vote Records: Traditional databases used in voting systems are susceptible to unauthorized modifications, making it difficult to maintain a tamper-proof, permanent voting record</a:t>
            </a:r>
            <a:r>
              <a:rPr lang="en-US" altLang="en-US" sz="1600" dirty="0" smtClean="0">
                <a:latin typeface="Times New Roman" panose="02020603050405020304" pitchFamily="18" charset="0"/>
                <a:cs typeface="Times New Roman" panose="02020603050405020304" pitchFamily="18" charset="0"/>
              </a:rPr>
              <a:t>.</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4.Privacy and Anonymity Concerns: Ensuring voter privacy and securely handling sensitive biometric data (e.g., face recognition) while maintaining vote transparency and anonymity is a critical challenge</a:t>
            </a:r>
            <a:r>
              <a:rPr lang="en-US" altLang="en-US" sz="1600" dirty="0" smtClean="0">
                <a:latin typeface="Times New Roman" panose="02020603050405020304" pitchFamily="18" charset="0"/>
                <a:cs typeface="Times New Roman" panose="02020603050405020304" pitchFamily="18" charset="0"/>
              </a:rPr>
              <a:t>.</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5.Trust Issues in Centralized Systems: Centralized control over voting systems increases the risk of data breaches and manipulation, creating a need for decentralized solutions to enhance trust and transparency</a:t>
            </a:r>
            <a:r>
              <a:rPr lang="en-US" altLang="en-US" sz="1200" dirty="0">
                <a:latin typeface="Times New Roman" panose="02020603050405020304" pitchFamily="18" charset="0"/>
                <a:cs typeface="Times New Roman" panose="02020603050405020304" pitchFamily="18" charset="0"/>
              </a:rPr>
              <a:t>.</a:t>
            </a:r>
            <a:endParaRPr lang="en-US"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Proposed 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3487E929-4048-4FA8-8BB8-CA6B1DEE6F8B}"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7" name="TextBox 6"/>
          <p:cNvSpPr txBox="1"/>
          <p:nvPr/>
        </p:nvSpPr>
        <p:spPr>
          <a:xfrm>
            <a:off x="426085" y="914142"/>
            <a:ext cx="8291830" cy="3888244"/>
          </a:xfrm>
          <a:prstGeom prst="rect">
            <a:avLst/>
          </a:prstGeom>
          <a:noFill/>
        </p:spPr>
        <p:txBody>
          <a:bodyPr wrap="square">
            <a:spAutoFit/>
          </a:bodyPr>
          <a:lstStyle/>
          <a:p>
            <a:pPr algn="just">
              <a:lnSpc>
                <a:spcPct val="150000"/>
              </a:lnSpc>
              <a:spcAft>
                <a:spcPts val="800"/>
              </a:spcAft>
            </a:pP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The proposed online voting system integrates face recognition for voter authentication and blockchain technology for secure, transparent vote storage. In this framework, face recognition is employed to authenticate voters during both the registration and voting phases, ensuring that only legitimate voters can access the system. </a:t>
            </a:r>
            <a:r>
              <a:rPr lang="en-US" altLang="en-US" sz="1600" kern="100" dirty="0" smtClean="0">
                <a:effectLst/>
                <a:latin typeface="Times New Roman" panose="02020603050405020304" pitchFamily="18" charset="0"/>
                <a:ea typeface="Calibri" panose="020F0502020204030204" pitchFamily="34" charset="0"/>
                <a:cs typeface="Times New Roman" panose="02020603050405020304" pitchFamily="18" charset="0"/>
              </a:rPr>
              <a:t>This </a:t>
            </a: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use of blockchain ensures that each vote is immutable, tamper-proof, and transparent, providing all stakeholders with the ability to verify the accuracy of the voting results.</a:t>
            </a:r>
            <a:endPar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Blockchain technology further ensures that all votes are stored in a decentralized manner, eliminating the risk of a single point of failure or manipulation. </a:t>
            </a:r>
            <a:r>
              <a:rPr lang="en-US" altLang="en-US" sz="1600" kern="100" dirty="0" smtClean="0">
                <a:effectLst/>
                <a:latin typeface="Times New Roman" panose="02020603050405020304" pitchFamily="18" charset="0"/>
                <a:ea typeface="Calibri" panose="020F0502020204030204" pitchFamily="34" charset="0"/>
                <a:cs typeface="Times New Roman" panose="02020603050405020304" pitchFamily="18" charset="0"/>
              </a:rPr>
              <a:t>The </a:t>
            </a: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system’s architecture consists of a secure client application for voters, a blockchain network for decentralized vote storage, and smart contracts for automated vote processing. </a:t>
            </a:r>
            <a:endPar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Software / Hardware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FAF13B13-FE7B-44B3-A17C-0E207613EA14}"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TextBox 5"/>
          <p:cNvSpPr txBox="1"/>
          <p:nvPr/>
        </p:nvSpPr>
        <p:spPr>
          <a:xfrm>
            <a:off x="396240" y="883920"/>
            <a:ext cx="3576320" cy="4639090"/>
          </a:xfrm>
          <a:prstGeom prst="rect">
            <a:avLst/>
          </a:prstGeom>
          <a:noFill/>
        </p:spPr>
        <p:txBody>
          <a:bodyPr wrap="square" rtlCol="0">
            <a:spAutoFit/>
          </a:bodyPr>
          <a:lstStyle/>
          <a:p>
            <a:pPr>
              <a:lnSpc>
                <a:spcPct val="150000"/>
              </a:lnSpc>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HARDWARE REQUIREMENT</a:t>
            </a:r>
            <a:r>
              <a:rPr lang="en-US" alt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a:t>
            </a:r>
            <a:endParaRPr lang="en-US" altLang="en-IN" sz="1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50000"/>
              </a:lnSpc>
              <a:spcAft>
                <a:spcPts val="800"/>
              </a:spcAft>
              <a:buFont typeface="Wingdings" panose="05000000000000000000" charset="0"/>
              <a:buChar char="Ø"/>
            </a:pPr>
            <a:r>
              <a:rPr lang="en-US" altLang="en-US" sz="1600" kern="100" dirty="0" smtClean="0">
                <a:effectLst/>
                <a:latin typeface="Times New Roman" panose="02020603050405020304" pitchFamily="18" charset="0"/>
                <a:ea typeface="Calibri" panose="020F0502020204030204" pitchFamily="34" charset="0"/>
                <a:cs typeface="Times New Roman" panose="02020603050405020304" pitchFamily="18" charset="0"/>
              </a:rPr>
              <a:t>Hard </a:t>
            </a: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Disk	: 	80GB and Above</a:t>
            </a:r>
            <a:endPar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50000"/>
              </a:lnSpc>
              <a:spcAft>
                <a:spcPts val="800"/>
              </a:spcAft>
              <a:buFont typeface="Wingdings" panose="05000000000000000000" charset="0"/>
              <a:buChar char="Ø"/>
            </a:pP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RAM		: 	4GB and Above</a:t>
            </a:r>
            <a:endPar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nSpc>
                <a:spcPct val="150000"/>
              </a:lnSpc>
              <a:spcAft>
                <a:spcPts val="800"/>
              </a:spcAft>
              <a:buFont typeface="Wingdings" panose="05000000000000000000" charset="0"/>
              <a:buChar char="Ø"/>
            </a:pPr>
            <a:r>
              <a:rPr lang="en-US" altLang="en-US" sz="1600" kern="100" dirty="0" smtClean="0">
                <a:effectLst/>
                <a:latin typeface="Times New Roman" panose="02020603050405020304" pitchFamily="18" charset="0"/>
                <a:ea typeface="Calibri" panose="020F0502020204030204" pitchFamily="34" charset="0"/>
                <a:cs typeface="Times New Roman" panose="02020603050405020304" pitchFamily="18" charset="0"/>
              </a:rPr>
              <a:t>Processor</a:t>
            </a:r>
            <a:r>
              <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rPr>
              <a:t>	:	P IV and Above</a:t>
            </a:r>
            <a:endParaRPr lang="en-US" alt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457200" lvl="0">
              <a:lnSpc>
                <a:spcPct val="150000"/>
              </a:lnSpc>
              <a:spcAft>
                <a:spcPts val="600"/>
              </a:spcAft>
              <a:tabLst>
                <a:tab pos="800100" algn="l"/>
              </a:tabLs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SOFTWARE REQUIREMENTS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spcAft>
                <a:spcPts val="800"/>
              </a:spcAft>
              <a:buFont typeface="Wingdings" panose="05000000000000000000" charset="0"/>
              <a:buChar char="Ø"/>
            </a:pP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Windows </a:t>
            </a:r>
            <a:r>
              <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rPr>
              <a:t>10 and above</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spcAft>
                <a:spcPts val="800"/>
              </a:spcAft>
              <a:buFont typeface="Wingdings" panose="05000000000000000000" charset="0"/>
              <a:buChar char="Ø"/>
            </a:pP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JDK </a:t>
            </a:r>
            <a:r>
              <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rPr>
              <a:t>1.8</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spcAft>
                <a:spcPts val="800"/>
              </a:spcAft>
              <a:buFont typeface="Wingdings" panose="05000000000000000000" charset="0"/>
              <a:buChar char="Ø"/>
            </a:pP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Python </a:t>
            </a:r>
            <a:r>
              <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rPr>
              <a:t>3.6.3</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spcAft>
                <a:spcPts val="800"/>
              </a:spcAft>
              <a:buFont typeface="Wingdings" panose="05000000000000000000" charset="0"/>
              <a:buChar char="Ø"/>
            </a:pP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XAMPP</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spcAft>
                <a:spcPts val="800"/>
              </a:spcAft>
              <a:buFont typeface="Wingdings" panose="05000000000000000000" charset="0"/>
              <a:buChar char="Ø"/>
            </a:pPr>
            <a:r>
              <a:rPr lang="en-US" altLang="en-US"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Gana</a:t>
            </a: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1600" dirty="0" err="1" smtClean="0">
                <a:effectLst/>
                <a:latin typeface="Times New Roman" panose="02020603050405020304" pitchFamily="18" charset="0"/>
                <a:ea typeface="Times New Roman" panose="02020603050405020304" pitchFamily="18" charset="0"/>
                <a:cs typeface="Times New Roman" panose="02020603050405020304" pitchFamily="18" charset="0"/>
              </a:rPr>
              <a:t>Che</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TextBox 6"/>
          <p:cNvSpPr txBox="1"/>
          <p:nvPr/>
        </p:nvSpPr>
        <p:spPr>
          <a:xfrm>
            <a:off x="4821063" y="875374"/>
            <a:ext cx="3750368" cy="1826141"/>
          </a:xfrm>
          <a:prstGeom prst="rect">
            <a:avLst/>
          </a:prstGeom>
          <a:noFill/>
        </p:spPr>
        <p:txBody>
          <a:bodyPr wrap="square" rtlCol="0">
            <a:spAutoFit/>
          </a:bodyPr>
          <a:lstStyle/>
          <a:p>
            <a:pPr algn="just">
              <a:lnSpc>
                <a:spcPct val="150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TECHNOLOGIES USED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457200" lvl="0" indent="-285750">
              <a:lnSpc>
                <a:spcPct val="150000"/>
              </a:lnSpc>
              <a:spcAft>
                <a:spcPts val="600"/>
              </a:spcAft>
              <a:buFont typeface="Wingdings" panose="05000000000000000000" charset="0"/>
              <a:buChar char="Ø"/>
              <a:tabLst>
                <a:tab pos="800100" algn="l"/>
              </a:tabLst>
            </a:pP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JAVA</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457200" lvl="0" indent="-285750">
              <a:lnSpc>
                <a:spcPct val="150000"/>
              </a:lnSpc>
              <a:spcAft>
                <a:spcPts val="600"/>
              </a:spcAft>
              <a:buFont typeface="Wingdings" panose="05000000000000000000" charset="0"/>
              <a:buChar char="Ø"/>
              <a:tabLst>
                <a:tab pos="800100" algn="l"/>
              </a:tabLst>
            </a:pPr>
            <a:r>
              <a:rPr lang="en-US" alt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Block chain</a:t>
            </a:r>
            <a:endParaRPr lang="en-US" alt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457200" lvl="0">
              <a:lnSpc>
                <a:spcPct val="150000"/>
              </a:lnSpc>
              <a:spcAft>
                <a:spcPts val="600"/>
              </a:spcAft>
              <a:tabLst>
                <a:tab pos="800100" algn="l"/>
              </a:tabLst>
            </a:pPr>
            <a:endParaRPr lang="en-US" altLang="en-US" sz="1400" dirty="0">
              <a:effectLst/>
              <a:latin typeface="Calibri" panose="020F0502020204030204" pitchFamily="34"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Architecture / Methodology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C4BC039F-0198-485D-A7BF-5D1B9E0B2CD8}"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grpSp>
        <p:nvGrpSpPr>
          <p:cNvPr id="1073742863" name="Group 1073742862"/>
          <p:cNvGrpSpPr>
            <a:grpSpLocks noChangeAspect="1"/>
          </p:cNvGrpSpPr>
          <p:nvPr/>
        </p:nvGrpSpPr>
        <p:grpSpPr>
          <a:xfrm>
            <a:off x="628650" y="835660"/>
            <a:ext cx="8100695" cy="5420995"/>
            <a:chOff x="1440" y="6337"/>
            <a:chExt cx="9510" cy="8537"/>
          </a:xfrm>
        </p:grpSpPr>
        <p:sp>
          <p:nvSpPr>
            <p:cNvPr id="7" name="Rectangles 6"/>
            <p:cNvSpPr>
              <a:spLocks noChangeAspect="1" noTextEdit="1"/>
            </p:cNvSpPr>
            <p:nvPr/>
          </p:nvSpPr>
          <p:spPr>
            <a:xfrm>
              <a:off x="1440" y="6337"/>
              <a:ext cx="9510" cy="8537"/>
            </a:xfrm>
            <a:prstGeom prst="rect">
              <a:avLst/>
            </a:prstGeom>
            <a:noFill/>
            <a:ln w="9525">
              <a:noFill/>
            </a:ln>
          </p:spPr>
          <p:txBody>
            <a:bodyPr/>
            <a:lstStyle/>
            <a:p>
              <a:endParaRPr lang="en-US"/>
            </a:p>
          </p:txBody>
        </p:sp>
        <p:pic>
          <p:nvPicPr>
            <p:cNvPr id="1073742865" name="Picture 1073742864"/>
            <p:cNvPicPr>
              <a:picLocks noChangeAspect="1"/>
            </p:cNvPicPr>
            <p:nvPr/>
          </p:nvPicPr>
          <p:blipFill>
            <a:blip r:embed="rId1"/>
            <a:stretch>
              <a:fillRect/>
            </a:stretch>
          </p:blipFill>
          <p:spPr>
            <a:xfrm>
              <a:off x="2291" y="6433"/>
              <a:ext cx="1144" cy="1144"/>
            </a:xfrm>
            <a:prstGeom prst="rect">
              <a:avLst/>
            </a:prstGeom>
            <a:noFill/>
            <a:ln w="9525">
              <a:noFill/>
            </a:ln>
          </p:spPr>
        </p:pic>
        <p:pic>
          <p:nvPicPr>
            <p:cNvPr id="1073742866" name="Picture 1073742865"/>
            <p:cNvPicPr>
              <a:picLocks noChangeAspect="1"/>
            </p:cNvPicPr>
            <p:nvPr/>
          </p:nvPicPr>
          <p:blipFill>
            <a:blip r:embed="rId2"/>
            <a:stretch>
              <a:fillRect/>
            </a:stretch>
          </p:blipFill>
          <p:spPr>
            <a:xfrm>
              <a:off x="8197" y="6673"/>
              <a:ext cx="904" cy="904"/>
            </a:xfrm>
            <a:prstGeom prst="rect">
              <a:avLst/>
            </a:prstGeom>
            <a:noFill/>
            <a:ln w="9525">
              <a:noFill/>
            </a:ln>
          </p:spPr>
        </p:pic>
        <p:sp>
          <p:nvSpPr>
            <p:cNvPr id="1073742867" name="Rounded Rectangle 1073742866"/>
            <p:cNvSpPr/>
            <p:nvPr/>
          </p:nvSpPr>
          <p:spPr>
            <a:xfrm>
              <a:off x="2291" y="7779"/>
              <a:ext cx="1144" cy="509"/>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Admin</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68" name="Rounded Rectangle 1073742867"/>
            <p:cNvSpPr/>
            <p:nvPr/>
          </p:nvSpPr>
          <p:spPr>
            <a:xfrm>
              <a:off x="2070" y="8619"/>
              <a:ext cx="1699" cy="674"/>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Add Election</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69" name="Rounded Rectangle 1073742868"/>
            <p:cNvSpPr/>
            <p:nvPr/>
          </p:nvSpPr>
          <p:spPr>
            <a:xfrm>
              <a:off x="1976" y="10667"/>
              <a:ext cx="1879" cy="61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Publish Result</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70" name="Rounded Rectangle 1073742869"/>
            <p:cNvSpPr/>
            <p:nvPr/>
          </p:nvSpPr>
          <p:spPr>
            <a:xfrm>
              <a:off x="2070" y="9624"/>
              <a:ext cx="1733" cy="69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Verify User</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71" name="Rounded Rectangle 1073742870"/>
            <p:cNvSpPr/>
            <p:nvPr/>
          </p:nvSpPr>
          <p:spPr>
            <a:xfrm>
              <a:off x="7953" y="8619"/>
              <a:ext cx="1223" cy="525"/>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Register</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72" name="Rounded Rectangle 1073742871"/>
            <p:cNvSpPr/>
            <p:nvPr/>
          </p:nvSpPr>
          <p:spPr>
            <a:xfrm>
              <a:off x="7260" y="10719"/>
              <a:ext cx="2640" cy="525"/>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Vote for Candidate</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073742873" name="Rounded Rectangle 1073742872"/>
            <p:cNvSpPr/>
            <p:nvPr/>
          </p:nvSpPr>
          <p:spPr>
            <a:xfrm>
              <a:off x="7428" y="9639"/>
              <a:ext cx="2307" cy="45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Trained Image</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74" name="Rounded Rectangle 1073742873"/>
            <p:cNvSpPr/>
            <p:nvPr/>
          </p:nvSpPr>
          <p:spPr>
            <a:xfrm>
              <a:off x="9656" y="8454"/>
              <a:ext cx="1144" cy="1035"/>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Upload image</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75" name="Rounded Rectangle 1073742874"/>
            <p:cNvSpPr/>
            <p:nvPr/>
          </p:nvSpPr>
          <p:spPr>
            <a:xfrm>
              <a:off x="7860" y="7577"/>
              <a:ext cx="1395" cy="45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    User</a:t>
              </a:r>
              <a:endParaRPr lang="en-US" dirty="0">
                <a:latin typeface="Times New Roman" panose="02020603050405020304" pitchFamily="18" charset="0"/>
                <a:cs typeface="Times New Roman" panose="02020603050405020304" pitchFamily="18" charset="0"/>
              </a:endParaRPr>
            </a:p>
            <a:p>
              <a:endParaRPr lang="en-US" dirty="0"/>
            </a:p>
          </p:txBody>
        </p:sp>
        <p:cxnSp>
          <p:nvCxnSpPr>
            <p:cNvPr id="1073742876" name="Straight Arrow Connector 1073742875"/>
            <p:cNvCxnSpPr/>
            <p:nvPr/>
          </p:nvCxnSpPr>
          <p:spPr>
            <a:xfrm>
              <a:off x="2863" y="8229"/>
              <a:ext cx="1" cy="390"/>
            </a:xfrm>
            <a:prstGeom prst="straightConnector1">
              <a:avLst/>
            </a:prstGeom>
            <a:ln w="9525" cap="flat" cmpd="sng">
              <a:solidFill>
                <a:srgbClr val="000000"/>
              </a:solidFill>
              <a:prstDash val="solid"/>
              <a:headEnd type="none" w="med" len="med"/>
              <a:tailEnd type="triangle" w="med" len="med"/>
            </a:ln>
          </p:spPr>
        </p:cxnSp>
        <p:cxnSp>
          <p:nvCxnSpPr>
            <p:cNvPr id="1073742877" name="Straight Arrow Connector 1073742876"/>
            <p:cNvCxnSpPr/>
            <p:nvPr/>
          </p:nvCxnSpPr>
          <p:spPr>
            <a:xfrm flipH="1">
              <a:off x="2903" y="9069"/>
              <a:ext cx="17" cy="555"/>
            </a:xfrm>
            <a:prstGeom prst="straightConnector1">
              <a:avLst/>
            </a:prstGeom>
            <a:ln w="9525" cap="flat" cmpd="sng">
              <a:solidFill>
                <a:srgbClr val="000000"/>
              </a:solidFill>
              <a:prstDash val="solid"/>
              <a:headEnd type="none" w="med" len="med"/>
              <a:tailEnd type="triangle" w="med" len="med"/>
            </a:ln>
          </p:spPr>
        </p:cxnSp>
        <p:cxnSp>
          <p:nvCxnSpPr>
            <p:cNvPr id="1073742878" name="Straight Arrow Connector 1073742877"/>
            <p:cNvCxnSpPr/>
            <p:nvPr/>
          </p:nvCxnSpPr>
          <p:spPr>
            <a:xfrm flipH="1">
              <a:off x="2866" y="10074"/>
              <a:ext cx="37" cy="587"/>
            </a:xfrm>
            <a:prstGeom prst="straightConnector1">
              <a:avLst/>
            </a:prstGeom>
            <a:ln w="9525" cap="flat" cmpd="sng">
              <a:solidFill>
                <a:srgbClr val="000000"/>
              </a:solidFill>
              <a:prstDash val="solid"/>
              <a:headEnd type="none" w="med" len="med"/>
              <a:tailEnd type="triangle" w="med" len="med"/>
            </a:ln>
          </p:spPr>
        </p:cxnSp>
        <p:cxnSp>
          <p:nvCxnSpPr>
            <p:cNvPr id="1073742879" name="Straight Arrow Connector 1073742878"/>
            <p:cNvCxnSpPr/>
            <p:nvPr/>
          </p:nvCxnSpPr>
          <p:spPr>
            <a:xfrm flipH="1">
              <a:off x="9176" y="8882"/>
              <a:ext cx="480" cy="1"/>
            </a:xfrm>
            <a:prstGeom prst="straightConnector1">
              <a:avLst/>
            </a:prstGeom>
            <a:ln w="9525" cap="flat" cmpd="sng">
              <a:solidFill>
                <a:srgbClr val="000000"/>
              </a:solidFill>
              <a:prstDash val="solid"/>
              <a:headEnd type="none" w="med" len="med"/>
              <a:tailEnd type="triangle" w="med" len="med"/>
            </a:ln>
          </p:spPr>
        </p:cxnSp>
        <p:cxnSp>
          <p:nvCxnSpPr>
            <p:cNvPr id="1073742880" name="Straight Arrow Connector 1073742879"/>
            <p:cNvCxnSpPr/>
            <p:nvPr/>
          </p:nvCxnSpPr>
          <p:spPr>
            <a:xfrm>
              <a:off x="8558" y="8027"/>
              <a:ext cx="7" cy="592"/>
            </a:xfrm>
            <a:prstGeom prst="straightConnector1">
              <a:avLst/>
            </a:prstGeom>
            <a:ln w="9525" cap="flat" cmpd="sng">
              <a:solidFill>
                <a:srgbClr val="000000"/>
              </a:solidFill>
              <a:prstDash val="solid"/>
              <a:headEnd type="none" w="med" len="med"/>
              <a:tailEnd type="triangle" w="med" len="med"/>
            </a:ln>
          </p:spPr>
        </p:cxnSp>
        <p:cxnSp>
          <p:nvCxnSpPr>
            <p:cNvPr id="1073742881" name="Straight Arrow Connector 1073742880"/>
            <p:cNvCxnSpPr/>
            <p:nvPr/>
          </p:nvCxnSpPr>
          <p:spPr>
            <a:xfrm>
              <a:off x="8580" y="11244"/>
              <a:ext cx="2" cy="585"/>
            </a:xfrm>
            <a:prstGeom prst="straightConnector1">
              <a:avLst/>
            </a:prstGeom>
            <a:ln w="9525" cap="flat" cmpd="sng">
              <a:solidFill>
                <a:srgbClr val="000000"/>
              </a:solidFill>
              <a:prstDash val="solid"/>
              <a:headEnd type="none" w="med" len="med"/>
              <a:tailEnd type="triangle" w="med" len="med"/>
            </a:ln>
          </p:spPr>
        </p:cxnSp>
        <p:cxnSp>
          <p:nvCxnSpPr>
            <p:cNvPr id="1073742882" name="Straight Arrow Connector 1073742881"/>
            <p:cNvCxnSpPr/>
            <p:nvPr/>
          </p:nvCxnSpPr>
          <p:spPr>
            <a:xfrm flipH="1">
              <a:off x="8580" y="10089"/>
              <a:ext cx="2" cy="630"/>
            </a:xfrm>
            <a:prstGeom prst="straightConnector1">
              <a:avLst/>
            </a:prstGeom>
            <a:ln w="9525" cap="flat" cmpd="sng">
              <a:solidFill>
                <a:srgbClr val="000000"/>
              </a:solidFill>
              <a:prstDash val="solid"/>
              <a:headEnd type="none" w="med" len="med"/>
              <a:tailEnd type="triangle" w="med" len="med"/>
            </a:ln>
          </p:spPr>
        </p:cxnSp>
        <p:cxnSp>
          <p:nvCxnSpPr>
            <p:cNvPr id="1073742883" name="Straight Arrow Connector 1073742882"/>
            <p:cNvCxnSpPr/>
            <p:nvPr/>
          </p:nvCxnSpPr>
          <p:spPr>
            <a:xfrm>
              <a:off x="8565" y="9144"/>
              <a:ext cx="17" cy="495"/>
            </a:xfrm>
            <a:prstGeom prst="straightConnector1">
              <a:avLst/>
            </a:prstGeom>
            <a:ln w="9525" cap="flat" cmpd="sng">
              <a:solidFill>
                <a:srgbClr val="000000"/>
              </a:solidFill>
              <a:prstDash val="solid"/>
              <a:headEnd type="none" w="med" len="med"/>
              <a:tailEnd type="triangle" w="med" len="med"/>
            </a:ln>
          </p:spPr>
        </p:cxnSp>
        <p:cxnSp>
          <p:nvCxnSpPr>
            <p:cNvPr id="1073742884" name="Straight Arrow Connector 1073742883"/>
            <p:cNvCxnSpPr/>
            <p:nvPr/>
          </p:nvCxnSpPr>
          <p:spPr>
            <a:xfrm flipH="1" flipV="1">
              <a:off x="3769" y="9849"/>
              <a:ext cx="3659" cy="15"/>
            </a:xfrm>
            <a:prstGeom prst="straightConnector1">
              <a:avLst/>
            </a:prstGeom>
            <a:ln w="9525" cap="flat" cmpd="sng">
              <a:solidFill>
                <a:srgbClr val="000000"/>
              </a:solidFill>
              <a:prstDash val="solid"/>
              <a:headEnd type="none" w="med" len="med"/>
              <a:tailEnd type="triangle" w="med" len="med"/>
            </a:ln>
          </p:spPr>
        </p:cxnSp>
        <p:sp>
          <p:nvSpPr>
            <p:cNvPr id="1073742885" name="Rounded Rectangle 1073742884"/>
            <p:cNvSpPr/>
            <p:nvPr/>
          </p:nvSpPr>
          <p:spPr>
            <a:xfrm>
              <a:off x="5280" y="14218"/>
              <a:ext cx="1500" cy="45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Result</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86" name="Rounded Rectangle 1073742885"/>
            <p:cNvSpPr/>
            <p:nvPr/>
          </p:nvSpPr>
          <p:spPr>
            <a:xfrm>
              <a:off x="7349" y="12809"/>
              <a:ext cx="2461" cy="45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Register Vote</a:t>
              </a:r>
              <a:endParaRPr lang="en-US" dirty="0">
                <a:latin typeface="Times New Roman" panose="02020603050405020304" pitchFamily="18" charset="0"/>
                <a:cs typeface="Times New Roman" panose="02020603050405020304" pitchFamily="18" charset="0"/>
              </a:endParaRPr>
            </a:p>
            <a:p>
              <a:endParaRPr lang="en-US" dirty="0"/>
            </a:p>
          </p:txBody>
        </p:sp>
        <p:sp>
          <p:nvSpPr>
            <p:cNvPr id="1073742887" name="Rounded Rectangle 1073742886"/>
            <p:cNvSpPr/>
            <p:nvPr/>
          </p:nvSpPr>
          <p:spPr>
            <a:xfrm>
              <a:off x="7428" y="11829"/>
              <a:ext cx="2307" cy="450"/>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lstStyle/>
            <a:p>
              <a:r>
                <a:rPr lang="en-US" dirty="0">
                  <a:latin typeface="Times New Roman" panose="02020603050405020304" pitchFamily="18" charset="0"/>
                  <a:cs typeface="Times New Roman" panose="02020603050405020304" pitchFamily="18" charset="0"/>
                </a:rPr>
                <a:t>Face Verification</a:t>
              </a:r>
              <a:endParaRPr lang="en-US" dirty="0">
                <a:latin typeface="Times New Roman" panose="02020603050405020304" pitchFamily="18" charset="0"/>
                <a:cs typeface="Times New Roman" panose="02020603050405020304" pitchFamily="18" charset="0"/>
              </a:endParaRPr>
            </a:p>
            <a:p>
              <a:endParaRPr lang="en-US" dirty="0"/>
            </a:p>
          </p:txBody>
        </p:sp>
        <p:pic>
          <p:nvPicPr>
            <p:cNvPr id="1073742888" name="Picture 1073742887"/>
            <p:cNvPicPr>
              <a:picLocks noChangeAspect="1"/>
            </p:cNvPicPr>
            <p:nvPr/>
          </p:nvPicPr>
          <p:blipFill>
            <a:blip r:embed="rId3"/>
            <a:stretch>
              <a:fillRect/>
            </a:stretch>
          </p:blipFill>
          <p:spPr>
            <a:xfrm>
              <a:off x="5520" y="12518"/>
              <a:ext cx="980" cy="980"/>
            </a:xfrm>
            <a:prstGeom prst="rect">
              <a:avLst/>
            </a:prstGeom>
            <a:noFill/>
            <a:ln w="9525">
              <a:noFill/>
            </a:ln>
          </p:spPr>
        </p:pic>
        <p:cxnSp>
          <p:nvCxnSpPr>
            <p:cNvPr id="1073742889" name="Straight Arrow Connector 1073742888"/>
            <p:cNvCxnSpPr/>
            <p:nvPr/>
          </p:nvCxnSpPr>
          <p:spPr>
            <a:xfrm>
              <a:off x="6010" y="13498"/>
              <a:ext cx="20" cy="720"/>
            </a:xfrm>
            <a:prstGeom prst="straightConnector1">
              <a:avLst/>
            </a:prstGeom>
            <a:ln w="9525" cap="flat" cmpd="sng">
              <a:solidFill>
                <a:srgbClr val="000000"/>
              </a:solidFill>
              <a:prstDash val="solid"/>
              <a:headEnd type="none" w="med" len="med"/>
              <a:tailEnd type="triangle" w="med" len="med"/>
            </a:ln>
          </p:spPr>
        </p:cxnSp>
        <p:cxnSp>
          <p:nvCxnSpPr>
            <p:cNvPr id="1073742890" name="Straight Arrow Connector 1073742889"/>
            <p:cNvCxnSpPr/>
            <p:nvPr/>
          </p:nvCxnSpPr>
          <p:spPr>
            <a:xfrm flipH="1">
              <a:off x="8580" y="12279"/>
              <a:ext cx="2" cy="530"/>
            </a:xfrm>
            <a:prstGeom prst="straightConnector1">
              <a:avLst/>
            </a:prstGeom>
            <a:ln w="9525" cap="flat" cmpd="sng">
              <a:solidFill>
                <a:srgbClr val="000000"/>
              </a:solidFill>
              <a:prstDash val="solid"/>
              <a:headEnd type="none" w="med" len="med"/>
              <a:tailEnd type="triangle" w="med" len="med"/>
            </a:ln>
          </p:spPr>
        </p:cxnSp>
        <p:cxnSp>
          <p:nvCxnSpPr>
            <p:cNvPr id="1073742891" name="Straight Arrow Connector 1073742890"/>
            <p:cNvCxnSpPr/>
            <p:nvPr/>
          </p:nvCxnSpPr>
          <p:spPr>
            <a:xfrm flipH="1" flipV="1">
              <a:off x="6500" y="13008"/>
              <a:ext cx="849" cy="26"/>
            </a:xfrm>
            <a:prstGeom prst="straightConnector1">
              <a:avLst/>
            </a:prstGeom>
            <a:ln w="9525" cap="flat" cmpd="sng">
              <a:solidFill>
                <a:srgbClr val="000000"/>
              </a:solidFill>
              <a:prstDash val="solid"/>
              <a:headEnd type="none" w="med" len="med"/>
              <a:tailEnd type="triangl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en-US" sz="36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use case diagram</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E423047D-1ACD-4B81-ACD0-B5BF1E815C27}" type="datetime1">
              <a:rPr lang="en-IN" smtClean="0"/>
            </a:fld>
            <a:endParaRPr lang="en-IN"/>
          </a:p>
        </p:txBody>
      </p:sp>
      <p:sp>
        <p:nvSpPr>
          <p:cNvPr id="8" name="Slide Number Placeholder 7"/>
          <p:cNvSpPr>
            <a:spLocks noGrp="1"/>
          </p:cNvSpPr>
          <p:nvPr>
            <p:ph type="sldNum" sz="quarter" idx="12"/>
          </p:nvPr>
        </p:nvSpPr>
        <p:spPr/>
        <p:txBody>
          <a:bodyPr/>
          <a:lstStyle/>
          <a:p>
            <a:fld id="{9D3FF152-60F5-4862-82F9-1190556AA56F}" type="slidenum">
              <a:rPr lang="en-IN" sz="1400" b="1" smtClean="0">
                <a:solidFill>
                  <a:schemeClr val="tx1"/>
                </a:solidFill>
              </a:rPr>
            </a:fld>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a:t>Title of the Project</a:t>
            </a:r>
            <a:endParaRPr lang="en-IN"/>
          </a:p>
        </p:txBody>
      </p:sp>
      <p:pic>
        <p:nvPicPr>
          <p:cNvPr id="5" name="Picture 4"/>
          <p:cNvPicPr/>
          <p:nvPr/>
        </p:nvPicPr>
        <p:blipFill>
          <a:blip r:embed="rId1"/>
          <a:stretch>
            <a:fillRect/>
          </a:stretch>
        </p:blipFill>
        <p:spPr>
          <a:xfrm>
            <a:off x="153035" y="795020"/>
            <a:ext cx="8848090" cy="55918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Date Placeholder 1"/>
          <p:cNvSpPr txBox="1"/>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9E1635-4293-4BDB-9808-27ED47FEDDC8}" type="datetime1">
              <a:rPr lang="en-IN" smtClean="0"/>
            </a:fld>
            <a:endParaRPr lang="en-IN"/>
          </a:p>
        </p:txBody>
      </p:sp>
      <p:sp>
        <p:nvSpPr>
          <p:cNvPr id="6" name="Footer Placeholder 2"/>
          <p:cNvSpPr txBox="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Title of the Project</a:t>
            </a:r>
            <a:endParaRPr lang="en-IN"/>
          </a:p>
        </p:txBody>
      </p:sp>
      <p:sp>
        <p:nvSpPr>
          <p:cNvPr id="7" name="Slide Number Placeholder 3"/>
          <p:cNvSpPr txBox="1"/>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D3FF152-60F5-4862-82F9-1190556AA56F}" type="slidenum">
              <a:rPr lang="en-IN" smtClean="0"/>
            </a:fld>
            <a:endParaRPr lang="en-IN"/>
          </a:p>
        </p:txBody>
      </p:sp>
      <p:sp>
        <p:nvSpPr>
          <p:cNvPr id="14" name="TextBox 13"/>
          <p:cNvSpPr txBox="1"/>
          <p:nvPr/>
        </p:nvSpPr>
        <p:spPr>
          <a:xfrm>
            <a:off x="2286000" y="3244334"/>
            <a:ext cx="4572000" cy="369332"/>
          </a:xfrm>
          <a:prstGeom prst="rect">
            <a:avLst/>
          </a:prstGeom>
          <a:noFill/>
        </p:spPr>
        <p:txBody>
          <a:bodyPr wrap="square">
            <a:spAutoFit/>
          </a:bodyPr>
          <a:lstStyle/>
          <a:p>
            <a:endParaRPr lang="en-IN" dirty="0"/>
          </a:p>
        </p:txBody>
      </p:sp>
      <p:sp>
        <p:nvSpPr>
          <p:cNvPr id="15" name="TextBox 14"/>
          <p:cNvSpPr txBox="1"/>
          <p:nvPr/>
        </p:nvSpPr>
        <p:spPr>
          <a:xfrm>
            <a:off x="406400" y="10160"/>
            <a:ext cx="8517255" cy="1200329"/>
          </a:xfrm>
          <a:prstGeom prst="rect">
            <a:avLst/>
          </a:prstGeom>
          <a:noFill/>
        </p:spPr>
        <p:txBody>
          <a:bodyPr wrap="square">
            <a:spAutoFit/>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Collaboration Diagram</a:t>
            </a:r>
            <a:endParaRPr lang="en-IN" sz="3600" b="1" dirty="0">
              <a:solidFill>
                <a:srgbClr val="7030A0"/>
              </a:solidFill>
              <a:latin typeface="Times New Roman" panose="02020603050405020304" pitchFamily="18" charset="0"/>
              <a:cs typeface="Times New Roman" panose="02020603050405020304" pitchFamily="18" charset="0"/>
            </a:endParaRPr>
          </a:p>
          <a:p>
            <a:endParaRPr lang="en-IN" sz="3600" b="1" dirty="0">
              <a:solidFill>
                <a:srgbClr val="7030A0"/>
              </a:solidFill>
              <a:latin typeface="Times New Roman" panose="02020603050405020304" pitchFamily="18" charset="0"/>
              <a:cs typeface="Times New Roman" panose="02020603050405020304" pitchFamily="18" charset="0"/>
            </a:endParaRPr>
          </a:p>
        </p:txBody>
      </p:sp>
      <p:pic>
        <p:nvPicPr>
          <p:cNvPr id="9" name="Picture 8"/>
          <p:cNvPicPr/>
          <p:nvPr/>
        </p:nvPicPr>
        <p:blipFill>
          <a:blip r:embed="rId1"/>
          <a:stretch>
            <a:fillRect/>
          </a:stretch>
        </p:blipFill>
        <p:spPr>
          <a:xfrm>
            <a:off x="628650" y="812165"/>
            <a:ext cx="7886065" cy="47340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Date Placeholder 1"/>
          <p:cNvSpPr txBox="1"/>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9E1635-4293-4BDB-9808-27ED47FEDDC8}" type="datetime1">
              <a:rPr lang="en-IN" smtClean="0"/>
            </a:fld>
            <a:endParaRPr lang="en-IN"/>
          </a:p>
        </p:txBody>
      </p:sp>
      <p:sp>
        <p:nvSpPr>
          <p:cNvPr id="6" name="Footer Placeholder 2"/>
          <p:cNvSpPr txBox="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Title of the Project</a:t>
            </a:r>
            <a:endParaRPr lang="en-IN"/>
          </a:p>
        </p:txBody>
      </p:sp>
      <p:sp>
        <p:nvSpPr>
          <p:cNvPr id="7" name="Slide Number Placeholder 3"/>
          <p:cNvSpPr txBox="1"/>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D3FF152-60F5-4862-82F9-1190556AA56F}" type="slidenum">
              <a:rPr lang="en-IN" smtClean="0"/>
            </a:fld>
            <a:endParaRPr lang="en-IN"/>
          </a:p>
        </p:txBody>
      </p:sp>
      <p:sp>
        <p:nvSpPr>
          <p:cNvPr id="12" name="TextBox 11"/>
          <p:cNvSpPr txBox="1"/>
          <p:nvPr/>
        </p:nvSpPr>
        <p:spPr>
          <a:xfrm>
            <a:off x="1376680" y="10160"/>
            <a:ext cx="7020560" cy="646331"/>
          </a:xfrm>
          <a:prstGeom prst="rect">
            <a:avLst/>
          </a:prstGeom>
          <a:noFill/>
        </p:spPr>
        <p:txBody>
          <a:bodyPr wrap="square">
            <a:spAutoFit/>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System Design -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Squence</a:t>
            </a:r>
            <a:r>
              <a:rPr lang="pt-BR" sz="3600" dirty="0">
                <a:solidFill>
                  <a:srgbClr val="222222"/>
                </a:solidFill>
                <a:effectLst/>
                <a:latin typeface="Arial" panose="020B0604020202020204" pitchFamily="34" charset="0"/>
                <a:ea typeface="Calibri" panose="020F0502020204030204" pitchFamily="34" charset="0"/>
              </a:rPr>
              <a:t> </a:t>
            </a:r>
            <a:r>
              <a:rPr lang="pt-BR"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Diagram</a:t>
            </a:r>
            <a:endParaRPr lang="en-IN" sz="3600" b="1" dirty="0">
              <a:solidFill>
                <a:srgbClr val="7030A0"/>
              </a:solidFill>
              <a:latin typeface="Times New Roman" panose="02020603050405020304" pitchFamily="18" charset="0"/>
              <a:cs typeface="Times New Roman" panose="02020603050405020304" pitchFamily="18" charset="0"/>
            </a:endParaRPr>
          </a:p>
        </p:txBody>
      </p:sp>
      <p:pic>
        <p:nvPicPr>
          <p:cNvPr id="9" name="Picture 8"/>
          <p:cNvPicPr/>
          <p:nvPr/>
        </p:nvPicPr>
        <p:blipFill>
          <a:blip r:embed="rId1"/>
          <a:stretch>
            <a:fillRect/>
          </a:stretch>
        </p:blipFill>
        <p:spPr>
          <a:xfrm>
            <a:off x="628650" y="809916"/>
            <a:ext cx="7769225" cy="51130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2D949113-FF7A-40B9-8139-10E567AB16BA}"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904240" y="1817036"/>
            <a:ext cx="7416800" cy="2585323"/>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Modules:</a:t>
            </a:r>
            <a:endParaRPr lang="en-US"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altLang="en-US" dirty="0" smtClean="0">
                <a:latin typeface="Times New Roman" panose="02020603050405020304" pitchFamily="18" charset="0"/>
                <a:cs typeface="Times New Roman" panose="02020603050405020304" pitchFamily="18" charset="0"/>
              </a:rPr>
              <a:t>User </a:t>
            </a:r>
            <a:r>
              <a:rPr lang="en-US" altLang="en-US" dirty="0">
                <a:latin typeface="Times New Roman" panose="02020603050405020304" pitchFamily="18" charset="0"/>
                <a:cs typeface="Times New Roman" panose="02020603050405020304" pitchFamily="18" charset="0"/>
              </a:rPr>
              <a:t>Registration &amp; Trained Voter Face</a:t>
            </a:r>
            <a:endParaRPr lang="en-US" altLang="en-US"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altLang="en-US" dirty="0" smtClean="0">
                <a:latin typeface="Times New Roman" panose="02020603050405020304" pitchFamily="18" charset="0"/>
                <a:cs typeface="Times New Roman" panose="02020603050405020304" pitchFamily="18" charset="0"/>
              </a:rPr>
              <a:t>Create </a:t>
            </a:r>
            <a:r>
              <a:rPr lang="en-US" altLang="en-US" dirty="0">
                <a:latin typeface="Times New Roman" panose="02020603050405020304" pitchFamily="18" charset="0"/>
                <a:cs typeface="Times New Roman" panose="02020603050405020304" pitchFamily="18" charset="0"/>
              </a:rPr>
              <a:t>Election</a:t>
            </a:r>
            <a:endParaRPr lang="en-US" altLang="en-US"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altLang="en-US" dirty="0" smtClean="0">
                <a:latin typeface="Times New Roman" panose="02020603050405020304" pitchFamily="18" charset="0"/>
                <a:cs typeface="Times New Roman" panose="02020603050405020304" pitchFamily="18" charset="0"/>
              </a:rPr>
              <a:t>Voting</a:t>
            </a:r>
            <a:endParaRPr lang="en-US" altLang="en-US"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altLang="en-US" dirty="0" smtClean="0">
                <a:latin typeface="Times New Roman" panose="02020603050405020304" pitchFamily="18" charset="0"/>
                <a:cs typeface="Times New Roman" panose="02020603050405020304" pitchFamily="18" charset="0"/>
              </a:rPr>
              <a:t>Publish </a:t>
            </a:r>
            <a:r>
              <a:rPr lang="en-US" altLang="en-US" dirty="0">
                <a:latin typeface="Times New Roman" panose="02020603050405020304" pitchFamily="18" charset="0"/>
                <a:cs typeface="Times New Roman" panose="02020603050405020304" pitchFamily="18" charset="0"/>
              </a:rPr>
              <a:t>Result</a:t>
            </a:r>
            <a:endParaRPr lang="en-US" altLang="en-US"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32F8DBF1-1527-4697-BE85-B9C494A9BC35}"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155628" y="1351659"/>
            <a:ext cx="8798560" cy="3416320"/>
          </a:xfrm>
          <a:prstGeom prst="rect">
            <a:avLst/>
          </a:prstGeom>
          <a:noFill/>
        </p:spPr>
        <p:txBody>
          <a:bodyPr wrap="square">
            <a:spAutoFit/>
          </a:bodyPr>
          <a:lstStyle/>
          <a:p>
            <a:pPr algn="just">
              <a:lnSpc>
                <a:spcPct val="150000"/>
              </a:lnSpc>
            </a:pPr>
            <a:r>
              <a:rPr lang="en-US" altLang="en-US" b="1" dirty="0" smtClean="0">
                <a:latin typeface="Times New Roman" panose="02020603050405020304" pitchFamily="18" charset="0"/>
                <a:cs typeface="Times New Roman" panose="02020603050405020304" pitchFamily="18" charset="0"/>
                <a:sym typeface="+mn-ea"/>
              </a:rPr>
              <a:t>User </a:t>
            </a:r>
            <a:r>
              <a:rPr lang="en-US" altLang="en-US" b="1" dirty="0">
                <a:latin typeface="Times New Roman" panose="02020603050405020304" pitchFamily="18" charset="0"/>
                <a:cs typeface="Times New Roman" panose="02020603050405020304" pitchFamily="18" charset="0"/>
                <a:sym typeface="+mn-ea"/>
              </a:rPr>
              <a:t>Registration &amp; Trained Voter </a:t>
            </a:r>
            <a:r>
              <a:rPr lang="en-US" altLang="en-US" b="1" dirty="0" smtClean="0">
                <a:latin typeface="Times New Roman" panose="02020603050405020304" pitchFamily="18" charset="0"/>
                <a:cs typeface="Times New Roman" panose="02020603050405020304" pitchFamily="18" charset="0"/>
                <a:sym typeface="+mn-ea"/>
              </a:rPr>
              <a:t>Face</a:t>
            </a:r>
            <a:endParaRPr lang="en-US" altLang="en-US" b="1" dirty="0" smtClean="0">
              <a:latin typeface="Times New Roman" panose="02020603050405020304" pitchFamily="18" charset="0"/>
              <a:cs typeface="Times New Roman" panose="02020603050405020304" pitchFamily="18" charset="0"/>
              <a:sym typeface="+mn-ea"/>
            </a:endParaRPr>
          </a:p>
          <a:p>
            <a:pPr algn="just">
              <a:lnSpc>
                <a:spcPct val="150000"/>
              </a:lnSpc>
            </a:pPr>
            <a:endParaRPr lang="en-US" altLang="en-US" b="1"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User should register in our website (User Voting Page Way) Block chain as an initial step with their mobile name, email, aadhar id, Voter id , image Area, Block chain Address contact number to which an unique USER-ID register. Users who are all registered in this portal are also considered as voter. The voter image convert to trained image After registering successfully the admin verify the voter details, after  user can login into their profile using their USER-ID and their registered password.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18440" y="1319014"/>
            <a:ext cx="8707120" cy="2542363"/>
          </a:xfrm>
          <a:prstGeom prst="rect">
            <a:avLst/>
          </a:prstGeom>
          <a:noFill/>
        </p:spPr>
        <p:txBody>
          <a:bodyPr wrap="square">
            <a:spAutoFit/>
          </a:bodyPr>
          <a:lstStyle/>
          <a:p>
            <a:pPr>
              <a:lnSpc>
                <a:spcPct val="150000"/>
              </a:lnSpc>
            </a:pPr>
            <a:r>
              <a:rPr lang="en-US" altLang="en-US" b="1" dirty="0">
                <a:latin typeface="Times New Roman" panose="02020603050405020304" pitchFamily="18" charset="0"/>
                <a:cs typeface="Times New Roman" panose="02020603050405020304" pitchFamily="18" charset="0"/>
              </a:rPr>
              <a:t>Admin:</a:t>
            </a:r>
            <a:endParaRPr lang="en-US" altLang="en-US" b="1"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           Admin Login page  with default user name and password. Admin can accept or reject an voter request by verifying the user detail and also admin can register another admin. User has to scan his aadhar card for verification process. After scanning he should enter his detail and send an request to the admin if the  account get rejected due to some reason he will be intimated to register again by admin.</a:t>
            </a:r>
            <a:endParaRPr lang="en-US" altLang="en-US"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BF12D3EE-FD66-4677-80BB-D7D610DDE236}"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333286" y="1247687"/>
            <a:ext cx="8567058" cy="2169825"/>
          </a:xfrm>
          <a:prstGeom prst="rect">
            <a:avLst/>
          </a:prstGeom>
          <a:noFill/>
        </p:spPr>
        <p:txBody>
          <a:bodyPr wrap="square">
            <a:spAutoFit/>
          </a:bodyPr>
          <a:lstStyle/>
          <a:p>
            <a:pPr>
              <a:lnSpc>
                <a:spcPct val="150000"/>
              </a:lnSpc>
            </a:pPr>
            <a:r>
              <a:rPr lang="en-US" altLang="en-US" sz="1400" b="1"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Create Election</a:t>
            </a:r>
            <a:endParaRPr lang="en-US" alt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          The Admin  can create an election with election type and election constituency. All the election gets triggered at the given date and time. And Verified user has to login and scan his Block chain Address if election and user constituency matches user can view Election details.  And Block chain Address. To create Nominated account in block chain.</a:t>
            </a:r>
            <a:endParaRPr lang="en-US" altLang="en-US"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7873791D-E80F-45A0-8335-C0B2BEA6B232}"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707390"/>
          </a:xfrm>
        </p:spPr>
        <p:txBody>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               Module Description</a:t>
            </a:r>
            <a:endParaRPr lang="en-US" sz="3600" dirty="0"/>
          </a:p>
        </p:txBody>
      </p:sp>
      <p:sp>
        <p:nvSpPr>
          <p:cNvPr id="3" name="Content Placeholder 2"/>
          <p:cNvSpPr>
            <a:spLocks noGrp="1"/>
          </p:cNvSpPr>
          <p:nvPr>
            <p:ph idx="1"/>
          </p:nvPr>
        </p:nvSpPr>
        <p:spPr>
          <a:xfrm>
            <a:off x="628650" y="1435693"/>
            <a:ext cx="7886700" cy="4495088"/>
          </a:xfrm>
        </p:spPr>
        <p:txBody>
          <a:bodyPr>
            <a:normAutofit fontScale="87500" lnSpcReduction="20000"/>
          </a:bodyPr>
          <a:lstStyle/>
          <a:p>
            <a:pPr marL="0" indent="0">
              <a:buFont typeface="Arial" panose="020B0604020202020204" pitchFamily="34" charset="0"/>
              <a:buNone/>
            </a:pPr>
            <a:r>
              <a:rPr lang="en-US" altLang="en-US" b="1" dirty="0">
                <a:latin typeface="Times New Roman" panose="02020603050405020304" pitchFamily="18" charset="0"/>
                <a:cs typeface="Times New Roman" panose="02020603050405020304" pitchFamily="18" charset="0"/>
              </a:rPr>
              <a:t>  </a:t>
            </a:r>
            <a:r>
              <a:rPr lang="en-US" altLang="en-US" sz="1900" b="1" dirty="0">
                <a:latin typeface="Times New Roman" panose="02020603050405020304" pitchFamily="18" charset="0"/>
                <a:cs typeface="Times New Roman" panose="02020603050405020304" pitchFamily="18" charset="0"/>
              </a:rPr>
              <a:t>Voting</a:t>
            </a:r>
            <a:endParaRPr lang="en-US" altLang="en-US" sz="1900" b="1" dirty="0">
              <a:latin typeface="Times New Roman" panose="02020603050405020304" pitchFamily="18" charset="0"/>
              <a:cs typeface="Times New Roman" panose="02020603050405020304" pitchFamily="18" charset="0"/>
            </a:endParaRPr>
          </a:p>
          <a:p>
            <a:pPr algn="just">
              <a:lnSpc>
                <a:spcPct val="150000"/>
              </a:lnSpc>
            </a:pPr>
            <a:r>
              <a:rPr lang="en-US" altLang="en-US" sz="1900" dirty="0" smtClean="0">
                <a:latin typeface="Times New Roman" panose="02020603050405020304" pitchFamily="18" charset="0"/>
                <a:cs typeface="Times New Roman" panose="02020603050405020304" pitchFamily="18" charset="0"/>
              </a:rPr>
              <a:t>Voters </a:t>
            </a:r>
            <a:r>
              <a:rPr lang="en-US" altLang="en-US" sz="1900" dirty="0">
                <a:latin typeface="Times New Roman" panose="02020603050405020304" pitchFamily="18" charset="0"/>
                <a:cs typeface="Times New Roman" panose="02020603050405020304" pitchFamily="18" charset="0"/>
              </a:rPr>
              <a:t>must have access to any web browser to take part in voting. The voter's interface would be provided in English language to make it easy to use for all users. The proposed system can contain a large number of voters at the time of voting. </a:t>
            </a:r>
            <a:r>
              <a:rPr lang="en-US" altLang="en-US" sz="1900" dirty="0" smtClean="0">
                <a:latin typeface="Times New Roman" panose="02020603050405020304" pitchFamily="18" charset="0"/>
                <a:cs typeface="Times New Roman" panose="02020603050405020304" pitchFamily="18" charset="0"/>
              </a:rPr>
              <a:t>User </a:t>
            </a:r>
            <a:r>
              <a:rPr lang="en-US" altLang="en-US" sz="1900" dirty="0">
                <a:latin typeface="Times New Roman" panose="02020603050405020304" pitchFamily="18" charset="0"/>
                <a:cs typeface="Times New Roman" panose="02020603050405020304" pitchFamily="18" charset="0"/>
              </a:rPr>
              <a:t>has to face his registered finger during his registration process</a:t>
            </a:r>
            <a:r>
              <a:rPr lang="en-US" altLang="en-US" sz="1900" dirty="0" smtClean="0">
                <a:latin typeface="Times New Roman" panose="02020603050405020304" pitchFamily="18" charset="0"/>
                <a:cs typeface="Times New Roman" panose="02020603050405020304" pitchFamily="18" charset="0"/>
              </a:rPr>
              <a:t>.. </a:t>
            </a:r>
            <a:endParaRPr lang="en-US" altLang="en-US" sz="1900" dirty="0" smtClean="0">
              <a:latin typeface="Times New Roman" panose="02020603050405020304" pitchFamily="18" charset="0"/>
              <a:cs typeface="Times New Roman" panose="02020603050405020304" pitchFamily="18" charset="0"/>
            </a:endParaRPr>
          </a:p>
          <a:p>
            <a:pPr algn="just">
              <a:lnSpc>
                <a:spcPct val="150000"/>
              </a:lnSpc>
            </a:pPr>
            <a:r>
              <a:rPr lang="en-US" altLang="en-US" sz="1900" dirty="0" smtClean="0">
                <a:latin typeface="Times New Roman" panose="02020603050405020304" pitchFamily="18" charset="0"/>
                <a:cs typeface="Times New Roman" panose="02020603050405020304" pitchFamily="18" charset="0"/>
              </a:rPr>
              <a:t>Voting </a:t>
            </a:r>
            <a:r>
              <a:rPr lang="en-US" altLang="en-US" sz="1900" dirty="0">
                <a:latin typeface="Times New Roman" panose="02020603050405020304" pitchFamily="18" charset="0"/>
                <a:cs typeface="Times New Roman" panose="02020603050405020304" pitchFamily="18" charset="0"/>
              </a:rPr>
              <a:t>transactions are sent to a pool from which miners analyze them and remove the malicious request by taking </a:t>
            </a:r>
            <a:r>
              <a:rPr lang="en-US" altLang="en-US" sz="1900" dirty="0" smtClean="0">
                <a:latin typeface="Times New Roman" panose="02020603050405020304" pitchFamily="18" charset="0"/>
                <a:cs typeface="Times New Roman" panose="02020603050405020304" pitchFamily="18" charset="0"/>
              </a:rPr>
              <a:t>the consensus </a:t>
            </a:r>
            <a:r>
              <a:rPr lang="en-US" altLang="en-US" sz="1900" dirty="0">
                <a:latin typeface="Times New Roman" panose="02020603050405020304" pitchFamily="18" charset="0"/>
                <a:cs typeface="Times New Roman" panose="02020603050405020304" pitchFamily="18" charset="0"/>
              </a:rPr>
              <a:t>from the other nodes before adding it to the chain. The votes are fully secured using a cryptographic hash. Each vote cast adds a new block in the chain</a:t>
            </a:r>
            <a:r>
              <a:rPr lang="en-US" altLang="en-US" sz="1900" dirty="0" smtClean="0">
                <a:latin typeface="Times New Roman" panose="02020603050405020304" pitchFamily="18" charset="0"/>
                <a:cs typeface="Times New Roman" panose="02020603050405020304" pitchFamily="18" charset="0"/>
              </a:rPr>
              <a:t>. </a:t>
            </a:r>
            <a:r>
              <a:rPr lang="en-US" altLang="en-US" sz="1900" dirty="0">
                <a:latin typeface="Times New Roman" panose="02020603050405020304" pitchFamily="18" charset="0"/>
                <a:cs typeface="Times New Roman" panose="02020603050405020304" pitchFamily="18" charset="0"/>
              </a:rPr>
              <a:t>the voter of that particular voting transaction is notified through an SMS to his registered email. </a:t>
            </a:r>
            <a:endParaRPr lang="en-US" altLang="en-US" sz="1900" dirty="0" smtClean="0">
              <a:latin typeface="Times New Roman" panose="02020603050405020304" pitchFamily="18" charset="0"/>
              <a:cs typeface="Times New Roman" panose="02020603050405020304" pitchFamily="18" charset="0"/>
            </a:endParaRPr>
          </a:p>
          <a:p>
            <a:pPr algn="just">
              <a:lnSpc>
                <a:spcPct val="150000"/>
              </a:lnSpc>
            </a:pPr>
            <a:r>
              <a:rPr lang="en-US" altLang="en-US" sz="1900" dirty="0" smtClean="0">
                <a:latin typeface="Times New Roman" panose="02020603050405020304" pitchFamily="18" charset="0"/>
                <a:cs typeface="Times New Roman" panose="02020603050405020304" pitchFamily="18" charset="0"/>
              </a:rPr>
              <a:t>U</a:t>
            </a:r>
            <a:r>
              <a:rPr lang="en-US" altLang="en-US" sz="1900" dirty="0" smtClean="0">
                <a:latin typeface="Times New Roman" panose="02020603050405020304" pitchFamily="18" charset="0"/>
                <a:cs typeface="Times New Roman" panose="02020603050405020304" pitchFamily="18" charset="0"/>
              </a:rPr>
              <a:t>pon </a:t>
            </a:r>
            <a:r>
              <a:rPr lang="en-US" altLang="en-US" sz="1900" dirty="0">
                <a:latin typeface="Times New Roman" panose="02020603050405020304" pitchFamily="18" charset="0"/>
                <a:cs typeface="Times New Roman" panose="02020603050405020304" pitchFamily="18" charset="0"/>
              </a:rPr>
              <a:t>successfully completion of transaction the vote has been counted in the whole voting activity.</a:t>
            </a:r>
            <a:endParaRPr lang="en-US" altLang="en-US" sz="19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1D432E2-0806-4929-8779-EE88DDC47E47}"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937260"/>
          </a:xfrm>
        </p:spPr>
        <p:txBody>
          <a:bodyPr/>
          <a:lstStyle/>
          <a:p>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             Module Description</a:t>
            </a:r>
            <a:endParaRPr lang="en-US" sz="3600"/>
          </a:p>
        </p:txBody>
      </p:sp>
      <p:sp>
        <p:nvSpPr>
          <p:cNvPr id="3" name="Content Placeholder 2"/>
          <p:cNvSpPr>
            <a:spLocks noGrp="1"/>
          </p:cNvSpPr>
          <p:nvPr>
            <p:ph idx="1"/>
          </p:nvPr>
        </p:nvSpPr>
        <p:spPr>
          <a:xfrm>
            <a:off x="628650" y="1410056"/>
            <a:ext cx="7886700" cy="4766907"/>
          </a:xfrm>
        </p:spPr>
        <p:txBody>
          <a:bodyPr>
            <a:normAutofit/>
          </a:bodyPr>
          <a:lstStyle/>
          <a:p>
            <a:pPr marL="0" indent="0">
              <a:lnSpc>
                <a:spcPct val="150000"/>
              </a:lnSpc>
              <a:buNone/>
            </a:pPr>
            <a:r>
              <a:rPr lang="en-US" altLang="en-US" sz="1800" b="1" dirty="0">
                <a:latin typeface="Times New Roman" panose="02020603050405020304" pitchFamily="18" charset="0"/>
                <a:cs typeface="Times New Roman" panose="02020603050405020304" pitchFamily="18" charset="0"/>
              </a:rPr>
              <a:t>Publish Result</a:t>
            </a:r>
            <a:endParaRPr lang="en-US" altLang="en-US" sz="18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1800" dirty="0">
                <a:latin typeface="Times New Roman" panose="02020603050405020304" pitchFamily="18" charset="0"/>
                <a:cs typeface="Times New Roman" panose="02020603050405020304" pitchFamily="18" charset="0"/>
              </a:rPr>
              <a:t>         Smart contracts are providing a secure connection between the user and the network while executing a transaction in the chain. These are the rules that are implemented on the </a:t>
            </a:r>
            <a:r>
              <a:rPr lang="en-US" altLang="en-US" sz="1800" dirty="0" smtClean="0">
                <a:latin typeface="Times New Roman" panose="02020603050405020304" pitchFamily="18" charset="0"/>
                <a:cs typeface="Times New Roman" panose="02020603050405020304" pitchFamily="18" charset="0"/>
              </a:rPr>
              <a:t>entire. </a:t>
            </a:r>
            <a:endParaRPr lang="en-US" altLang="en-US" sz="1800"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1800" dirty="0" smtClean="0">
                <a:latin typeface="Times New Roman" panose="02020603050405020304" pitchFamily="18" charset="0"/>
                <a:cs typeface="Times New Roman" panose="02020603050405020304" pitchFamily="18" charset="0"/>
              </a:rPr>
              <a:t>Block </a:t>
            </a:r>
            <a:r>
              <a:rPr lang="en-US" altLang="en-US" sz="1800" dirty="0">
                <a:latin typeface="Times New Roman" panose="02020603050405020304" pitchFamily="18" charset="0"/>
                <a:cs typeface="Times New Roman" panose="02020603050405020304" pitchFamily="18" charset="0"/>
              </a:rPr>
              <a:t>chain and cannot be neglected under any condition. All the nodes have to follow the smart contracts to save the vote in the system successfully. When user completes his or her voting process votes are stored in Block chain. </a:t>
            </a:r>
            <a:r>
              <a:rPr lang="en-US" altLang="en-US" sz="1800" dirty="0" smtClean="0">
                <a:latin typeface="Times New Roman" panose="02020603050405020304" pitchFamily="18" charset="0"/>
                <a:cs typeface="Times New Roman" panose="02020603050405020304" pitchFamily="18" charset="0"/>
              </a:rPr>
              <a:t>User </a:t>
            </a:r>
            <a:r>
              <a:rPr lang="en-US" altLang="en-US" sz="1800" dirty="0">
                <a:latin typeface="Times New Roman" panose="02020603050405020304" pitchFamily="18" charset="0"/>
                <a:cs typeface="Times New Roman" panose="02020603050405020304" pitchFamily="18" charset="0"/>
              </a:rPr>
              <a:t>can view his or her vote in a pie chart retrieved from block chain.SHA256 algorithm has been used to hash the data. Admin Can publish the result of each constituency after the election process is fully completed.</a:t>
            </a:r>
            <a:endParaRPr lang="en-US" alt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1D432E2-0806-4929-8779-EE88DDC47E47}" type="datetime1">
              <a:rPr lang="en-IN" smtClean="0"/>
            </a:fld>
            <a:endParaRPr lang="en-IN" dirty="0"/>
          </a:p>
        </p:txBody>
      </p:sp>
      <p:sp>
        <p:nvSpPr>
          <p:cNvPr id="5" name="Footer Placeholder 4"/>
          <p:cNvSpPr>
            <a:spLocks noGrp="1"/>
          </p:cNvSpPr>
          <p:nvPr>
            <p:ph type="ftr" sz="quarter" idx="11"/>
          </p:nvPr>
        </p:nvSpPr>
        <p:spPr/>
        <p:txBody>
          <a:bodyPr/>
          <a:lstStyle/>
          <a:p>
            <a:r>
              <a:rPr lang="en-IN" dirty="0"/>
              <a:t>Title of the Project</a:t>
            </a:r>
            <a:endParaRPr lang="en-IN" dirty="0"/>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5B5F191C-D7D2-437B-ABFF-C7F68D597B22}"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662161" y="1196411"/>
            <a:ext cx="7763510" cy="4247317"/>
          </a:xfrm>
          <a:prstGeom prst="rect">
            <a:avLst/>
          </a:prstGeom>
          <a:noFill/>
        </p:spPr>
        <p:txBody>
          <a:bodyPr wrap="square">
            <a:spAutoFit/>
          </a:bodyPr>
          <a:lstStyle/>
          <a:p>
            <a:pPr algn="just">
              <a:lnSpc>
                <a:spcPct val="150000"/>
              </a:lnSpc>
              <a:buNone/>
            </a:pPr>
            <a:r>
              <a:rPr lang="en-US" b="1" dirty="0">
                <a:latin typeface="Times New Roman" panose="02020603050405020304" pitchFamily="18" charset="0"/>
                <a:cs typeface="Times New Roman" panose="02020603050405020304" pitchFamily="18" charset="0"/>
              </a:rPr>
              <a:t>Software Testing Techniques</a:t>
            </a:r>
            <a:endParaRPr lang="en-US" b="1" dirty="0">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altLang="en-US" kern="100" dirty="0">
                <a:effectLst/>
                <a:latin typeface="Times New Roman" panose="02020603050405020304" pitchFamily="18" charset="0"/>
                <a:ea typeface="Calibri" panose="020F0502020204030204" pitchFamily="34" charset="0"/>
                <a:cs typeface="Times New Roman" panose="02020603050405020304" pitchFamily="18" charset="0"/>
              </a:rPr>
              <a:t>The system undergoes several software testing techniques to verify the functionality of the face recognition module and the blockchain integration. Unit testing is applied to individual components such as voter registration, biometric authentication, and vote casting. Integration testing ensures that the blockchain interacts seamlessly with the face recognition system and that all transactions are securely recorded. Security testing evaluates the system’s resistance to attacks such as data breaches, unauthorized access, or vote tampering. Additionally, load testing is performed to assess the system’s ability to manage large-scale voting with concurrent users.</a:t>
            </a:r>
            <a:endParaRPr lang="en-US" altLang="en-US"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8F910233-9C06-4EDA-B95E-CB4A032185B7}"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628650" y="1132066"/>
            <a:ext cx="8159750" cy="4662815"/>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Testing Methods &amp; Key Strategies</a:t>
            </a:r>
            <a:endParaRPr lang="en-US" b="1" dirty="0">
              <a:latin typeface="Times New Roman" panose="02020603050405020304" pitchFamily="18" charset="0"/>
              <a:cs typeface="Times New Roman" panose="02020603050405020304" pitchFamily="18" charset="0"/>
            </a:endParaRPr>
          </a:p>
          <a:p>
            <a:pPr algn="just">
              <a:lnSpc>
                <a:spcPct val="150000"/>
              </a:lnSpc>
              <a:spcAft>
                <a:spcPts val="1000"/>
              </a:spcAft>
              <a:buNone/>
            </a:pP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Black box testing focuses on the system’s functional behavior, testing voter registration, face recognition authentication, and vote recording without accessing the internal code structure. Meanwhile, white box testing verifies the internal code of the blockchain smart contracts and the face recognition algorithms to identify potential vulnerabilities. Load testing evaluates the system's performance under high-traffic conditions, ensuring the face recognition and blockchain components maintain efficiency under heavy voter loads. Penetration testing is conducted to simulate cyberattacks, ensuring the system is fortified against security threats. </a:t>
            </a:r>
            <a:r>
              <a:rPr lang="en-US" alt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Finally</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 acceptance testing confirms that the system meets all functional and security requirements set by voters and election authorities.</a:t>
            </a:r>
            <a:endPar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6956C1CE-CACE-47FC-90A2-A02E4AD860D2}"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 Box 7"/>
          <p:cNvSpPr txBox="1"/>
          <p:nvPr/>
        </p:nvSpPr>
        <p:spPr>
          <a:xfrm>
            <a:off x="2194402" y="-4829493"/>
            <a:ext cx="5080000" cy="1188085"/>
          </a:xfrm>
          <a:prstGeom prst="rect">
            <a:avLst/>
          </a:prstGeom>
        </p:spPr>
        <p:txBody>
          <a:bodyPr>
            <a:spAutoFit/>
          </a:bodyPr>
          <a:lstStyle/>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sp>
        <p:nvSpPr>
          <p:cNvPr id="11" name="Text Box 10"/>
          <p:cNvSpPr txBox="1"/>
          <p:nvPr/>
        </p:nvSpPr>
        <p:spPr>
          <a:xfrm>
            <a:off x="2194402" y="-966471"/>
            <a:ext cx="5080000" cy="771525"/>
          </a:xfrm>
          <a:prstGeom prst="rect">
            <a:avLst/>
          </a:prstGeom>
        </p:spPr>
        <p:txBody>
          <a:bodyPr>
            <a:spAutoFit/>
          </a:bodyPr>
          <a:lstStyle/>
          <a:p>
            <a:endParaRPr sz="2600"/>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sp>
        <p:nvSpPr>
          <p:cNvPr id="13" name="Text Box 12"/>
          <p:cNvSpPr txBox="1"/>
          <p:nvPr/>
        </p:nvSpPr>
        <p:spPr>
          <a:xfrm>
            <a:off x="2194402" y="2479991"/>
            <a:ext cx="5080000" cy="771525"/>
          </a:xfrm>
          <a:prstGeom prst="rect">
            <a:avLst/>
          </a:prstGeom>
        </p:spPr>
        <p:txBody>
          <a:bodyPr>
            <a:spAutoFit/>
          </a:bodyPr>
          <a:lstStyle/>
          <a:p>
            <a:endParaRPr sz="2600"/>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sp>
        <p:nvSpPr>
          <p:cNvPr id="15" name="Text Box 14"/>
          <p:cNvSpPr txBox="1"/>
          <p:nvPr/>
        </p:nvSpPr>
        <p:spPr>
          <a:xfrm>
            <a:off x="2194402" y="5926453"/>
            <a:ext cx="5080000" cy="771525"/>
          </a:xfrm>
          <a:prstGeom prst="rect">
            <a:avLst/>
          </a:prstGeom>
        </p:spPr>
        <p:txBody>
          <a:bodyPr>
            <a:spAutoFit/>
          </a:bodyPr>
          <a:lstStyle/>
          <a:p>
            <a:endParaRPr sz="2600"/>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sp>
        <p:nvSpPr>
          <p:cNvPr id="17" name="Text Box 16"/>
          <p:cNvSpPr txBox="1"/>
          <p:nvPr/>
        </p:nvSpPr>
        <p:spPr>
          <a:xfrm>
            <a:off x="2194402" y="9372915"/>
            <a:ext cx="5080000" cy="771525"/>
          </a:xfrm>
          <a:prstGeom prst="rect">
            <a:avLst/>
          </a:prstGeom>
        </p:spPr>
        <p:txBody>
          <a:bodyPr>
            <a:spAutoFit/>
          </a:bodyPr>
          <a:lstStyle/>
          <a:p>
            <a:endParaRPr sz="2600"/>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sp>
        <p:nvSpPr>
          <p:cNvPr id="19" name="Text Box 18"/>
          <p:cNvSpPr txBox="1"/>
          <p:nvPr/>
        </p:nvSpPr>
        <p:spPr>
          <a:xfrm>
            <a:off x="2194402" y="12819376"/>
            <a:ext cx="5080000" cy="771525"/>
          </a:xfrm>
          <a:prstGeom prst="rect">
            <a:avLst/>
          </a:prstGeom>
        </p:spPr>
        <p:txBody>
          <a:bodyPr>
            <a:spAutoFit/>
          </a:bodyPr>
          <a:lstStyle/>
          <a:p>
            <a:endParaRPr sz="2600"/>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sp>
        <p:nvSpPr>
          <p:cNvPr id="21" name="Text Box 20"/>
          <p:cNvSpPr txBox="1"/>
          <p:nvPr/>
        </p:nvSpPr>
        <p:spPr>
          <a:xfrm>
            <a:off x="2194402" y="16265838"/>
            <a:ext cx="5080000" cy="771525"/>
          </a:xfrm>
          <a:prstGeom prst="rect">
            <a:avLst/>
          </a:prstGeom>
        </p:spPr>
        <p:txBody>
          <a:bodyPr>
            <a:spAutoFit/>
          </a:bodyPr>
          <a:lstStyle/>
          <a:p>
            <a:endParaRPr sz="2600"/>
          </a:p>
          <a:p>
            <a:pPr defTabSz="266700">
              <a:lnSpc>
                <a:spcPct val="114000"/>
              </a:lnSpc>
              <a:spcAft>
                <a:spcPts val="1000"/>
              </a:spcAft>
            </a:pPr>
            <a:r>
              <a:rPr sz="1600">
                <a:latin typeface="Calibri" panose="020F0502020204030204"/>
                <a:ea typeface="Times New Roman" panose="02020603050405020304"/>
              </a:rPr>
              <a:t> </a:t>
            </a:r>
            <a:endParaRPr sz="1600">
              <a:latin typeface="Calibri" panose="020F0502020204030204"/>
              <a:ea typeface="Times New Roman" panose="02020603050405020304"/>
            </a:endParaRPr>
          </a:p>
        </p:txBody>
      </p:sp>
      <p:pic>
        <p:nvPicPr>
          <p:cNvPr id="9" name="Picture 8"/>
          <p:cNvPicPr/>
          <p:nvPr/>
        </p:nvPicPr>
        <p:blipFill>
          <a:blip r:embed="rId1"/>
          <a:stretch>
            <a:fillRect/>
          </a:stretch>
        </p:blipFill>
        <p:spPr>
          <a:xfrm>
            <a:off x="2211493" y="739295"/>
            <a:ext cx="4755197" cy="2674937"/>
          </a:xfrm>
          <a:prstGeom prst="rect">
            <a:avLst/>
          </a:prstGeom>
        </p:spPr>
      </p:pic>
      <p:pic>
        <p:nvPicPr>
          <p:cNvPr id="22" name="Picture 21"/>
          <p:cNvPicPr/>
          <p:nvPr/>
        </p:nvPicPr>
        <p:blipFill>
          <a:blip r:embed="rId2"/>
          <a:stretch>
            <a:fillRect/>
          </a:stretch>
        </p:blipFill>
        <p:spPr>
          <a:xfrm>
            <a:off x="2194402" y="3525328"/>
            <a:ext cx="4755197" cy="2674937"/>
          </a:xfrm>
          <a:prstGeom prst="rect">
            <a:avLst/>
          </a:prstGeom>
        </p:spPr>
      </p:pic>
      <p:sp>
        <p:nvSpPr>
          <p:cNvPr id="23" name="Text Box 22"/>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90B8A376-A028-4B2E-948B-5A93DED2192E}"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pic>
        <p:nvPicPr>
          <p:cNvPr id="4" name="Picture 3"/>
          <p:cNvPicPr/>
          <p:nvPr/>
        </p:nvPicPr>
        <p:blipFill>
          <a:blip r:embed="rId1"/>
          <a:stretch>
            <a:fillRect/>
          </a:stretch>
        </p:blipFill>
        <p:spPr>
          <a:xfrm>
            <a:off x="2279860" y="790570"/>
            <a:ext cx="4755197" cy="2674937"/>
          </a:xfrm>
          <a:prstGeom prst="rect">
            <a:avLst/>
          </a:prstGeom>
        </p:spPr>
      </p:pic>
      <p:pic>
        <p:nvPicPr>
          <p:cNvPr id="7" name="Picture 6"/>
          <p:cNvPicPr/>
          <p:nvPr/>
        </p:nvPicPr>
        <p:blipFill>
          <a:blip r:embed="rId2"/>
          <a:stretch>
            <a:fillRect/>
          </a:stretch>
        </p:blipFill>
        <p:spPr>
          <a:xfrm>
            <a:off x="2269437" y="3563246"/>
            <a:ext cx="4754880" cy="2828925"/>
          </a:xfrm>
          <a:prstGeom prst="rect">
            <a:avLst/>
          </a:prstGeom>
        </p:spPr>
      </p:pic>
      <p:sp>
        <p:nvSpPr>
          <p:cNvPr id="8" name="Text Box 7"/>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pic>
        <p:nvPicPr>
          <p:cNvPr id="6" name="Picture 5"/>
          <p:cNvPicPr>
            <a:picLocks noChangeAspect="1"/>
          </p:cNvPicPr>
          <p:nvPr/>
        </p:nvPicPr>
        <p:blipFill>
          <a:blip r:embed="rId1"/>
          <a:stretch>
            <a:fillRect/>
          </a:stretch>
        </p:blipFill>
        <p:spPr>
          <a:xfrm>
            <a:off x="3470040" y="-106717"/>
            <a:ext cx="2712955" cy="853514"/>
          </a:xfrm>
          <a:prstGeom prst="rect">
            <a:avLst/>
          </a:prstGeom>
        </p:spPr>
      </p:pic>
      <p:pic>
        <p:nvPicPr>
          <p:cNvPr id="5" name="Picture 4"/>
          <p:cNvPicPr/>
          <p:nvPr/>
        </p:nvPicPr>
        <p:blipFill>
          <a:blip r:embed="rId2"/>
          <a:stretch>
            <a:fillRect/>
          </a:stretch>
        </p:blipFill>
        <p:spPr>
          <a:xfrm>
            <a:off x="2228585" y="773479"/>
            <a:ext cx="4755197" cy="2674937"/>
          </a:xfrm>
          <a:prstGeom prst="rect">
            <a:avLst/>
          </a:prstGeom>
        </p:spPr>
      </p:pic>
      <p:pic>
        <p:nvPicPr>
          <p:cNvPr id="7" name="Picture 6"/>
          <p:cNvPicPr/>
          <p:nvPr/>
        </p:nvPicPr>
        <p:blipFill>
          <a:blip r:embed="rId3"/>
          <a:stretch>
            <a:fillRect/>
          </a:stretch>
        </p:blipFill>
        <p:spPr>
          <a:xfrm>
            <a:off x="2202948" y="3525328"/>
            <a:ext cx="4755197" cy="2674937"/>
          </a:xfrm>
          <a:prstGeom prst="rect">
            <a:avLst/>
          </a:prstGeom>
        </p:spPr>
      </p:pic>
      <p:sp>
        <p:nvSpPr>
          <p:cNvPr id="8" name="Text Box 7"/>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Text Box 4"/>
          <p:cNvSpPr txBox="1"/>
          <p:nvPr/>
        </p:nvSpPr>
        <p:spPr>
          <a:xfrm>
            <a:off x="2259330" y="-316865"/>
            <a:ext cx="4485005" cy="652780"/>
          </a:xfrm>
          <a:prstGeom prst="rect">
            <a:avLst/>
          </a:prstGeom>
          <a:noFill/>
        </p:spPr>
        <p:txBody>
          <a:bodyPr wrap="square" rtlCol="0">
            <a:noAutofit/>
          </a:bodyPr>
          <a:lstStyle/>
          <a:p>
            <a:endParaRPr lang="en-US" altLang="en-US"/>
          </a:p>
          <a:p>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Screen Shots</a:t>
            </a:r>
            <a:endParaRPr lang="en-IN" b="1" dirty="0">
              <a:solidFill>
                <a:srgbClr val="7030A0"/>
              </a:solidFill>
              <a:latin typeface="Times New Roman" panose="02020603050405020304" pitchFamily="18" charset="0"/>
              <a:cs typeface="Times New Roman" panose="02020603050405020304" pitchFamily="18" charset="0"/>
            </a:endParaRPr>
          </a:p>
          <a:p>
            <a:endParaRPr lang="en-US"/>
          </a:p>
        </p:txBody>
      </p:sp>
      <p:pic>
        <p:nvPicPr>
          <p:cNvPr id="6" name="Picture 5"/>
          <p:cNvPicPr/>
          <p:nvPr/>
        </p:nvPicPr>
        <p:blipFill>
          <a:blip r:embed="rId1"/>
          <a:stretch>
            <a:fillRect/>
          </a:stretch>
        </p:blipFill>
        <p:spPr>
          <a:xfrm>
            <a:off x="2194402" y="839471"/>
            <a:ext cx="4755197" cy="2674937"/>
          </a:xfrm>
          <a:prstGeom prst="rect">
            <a:avLst/>
          </a:prstGeom>
        </p:spPr>
      </p:pic>
      <p:pic>
        <p:nvPicPr>
          <p:cNvPr id="7" name="Picture 6"/>
          <p:cNvPicPr/>
          <p:nvPr/>
        </p:nvPicPr>
        <p:blipFill>
          <a:blip r:embed="rId2"/>
          <a:stretch>
            <a:fillRect/>
          </a:stretch>
        </p:blipFill>
        <p:spPr>
          <a:xfrm>
            <a:off x="2194402" y="3597593"/>
            <a:ext cx="4755197" cy="2674937"/>
          </a:xfrm>
          <a:prstGeom prst="rect">
            <a:avLst/>
          </a:prstGeom>
        </p:spPr>
      </p:pic>
      <p:sp>
        <p:nvSpPr>
          <p:cNvPr id="8" name="Text Box 7"/>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Text Box 4"/>
          <p:cNvSpPr txBox="1"/>
          <p:nvPr/>
        </p:nvSpPr>
        <p:spPr>
          <a:xfrm>
            <a:off x="2286000" y="79375"/>
            <a:ext cx="4572000" cy="583565"/>
          </a:xfrm>
          <a:prstGeom prst="rect">
            <a:avLst/>
          </a:prstGeom>
          <a:noFill/>
        </p:spPr>
        <p:txBody>
          <a:bodyPr wrap="square" rtlCol="0" anchor="t">
            <a:sp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Screen Shots</a:t>
            </a:r>
            <a:endPar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endParaRPr>
          </a:p>
        </p:txBody>
      </p:sp>
      <p:pic>
        <p:nvPicPr>
          <p:cNvPr id="6" name="Picture 5"/>
          <p:cNvPicPr/>
          <p:nvPr/>
        </p:nvPicPr>
        <p:blipFill>
          <a:blip r:embed="rId1"/>
          <a:stretch>
            <a:fillRect/>
          </a:stretch>
        </p:blipFill>
        <p:spPr>
          <a:xfrm>
            <a:off x="1600200" y="662940"/>
            <a:ext cx="5943600" cy="2642235"/>
          </a:xfrm>
          <a:prstGeom prst="rect">
            <a:avLst/>
          </a:prstGeom>
        </p:spPr>
      </p:pic>
      <p:pic>
        <p:nvPicPr>
          <p:cNvPr id="31" name="Picture 31"/>
          <p:cNvPicPr>
            <a:picLocks noChangeAspect="1" noChangeArrowheads="1"/>
          </p:cNvPicPr>
          <p:nvPr/>
        </p:nvPicPr>
        <p:blipFill>
          <a:blip r:embed="rId2"/>
          <a:srcRect/>
          <a:stretch>
            <a:fillRect/>
          </a:stretch>
        </p:blipFill>
        <p:spPr>
          <a:xfrm>
            <a:off x="1600200" y="3304540"/>
            <a:ext cx="5943600" cy="3114040"/>
          </a:xfrm>
          <a:prstGeom prst="rect">
            <a:avLst/>
          </a:prstGeom>
          <a:noFill/>
          <a:ln w="9525">
            <a:noFill/>
            <a:miter lim="800000"/>
            <a:headEnd/>
            <a:tailEnd/>
          </a:ln>
        </p:spPr>
      </p:pic>
      <p:pic>
        <p:nvPicPr>
          <p:cNvPr id="7" name="Picture 31"/>
          <p:cNvPicPr>
            <a:picLocks noChangeAspect="1" noChangeArrowheads="1"/>
          </p:cNvPicPr>
          <p:nvPr/>
        </p:nvPicPr>
        <p:blipFill>
          <a:blip r:embed="rId2"/>
          <a:srcRect/>
          <a:stretch>
            <a:fillRect/>
          </a:stretch>
        </p:blipFill>
        <p:spPr>
          <a:xfrm>
            <a:off x="1600200" y="1757998"/>
            <a:ext cx="5943600" cy="334200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Text Box 4"/>
          <p:cNvSpPr txBox="1"/>
          <p:nvPr/>
        </p:nvSpPr>
        <p:spPr>
          <a:xfrm>
            <a:off x="2204720" y="-205740"/>
            <a:ext cx="4572000" cy="583565"/>
          </a:xfrm>
          <a:prstGeom prst="rect">
            <a:avLst/>
          </a:prstGeom>
          <a:noFill/>
        </p:spPr>
        <p:txBody>
          <a:bodyPr wrap="square" rtlCol="0" anchor="t">
            <a:spAutoFit/>
          </a:bodyPr>
          <a:lstStyle/>
          <a:p>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          Screen Shots</a:t>
            </a:r>
            <a:endPar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endParaRPr>
          </a:p>
        </p:txBody>
      </p:sp>
      <p:pic>
        <p:nvPicPr>
          <p:cNvPr id="7" name="Picture 6"/>
          <p:cNvPicPr/>
          <p:nvPr/>
        </p:nvPicPr>
        <p:blipFill>
          <a:blip r:embed="rId1"/>
          <a:stretch>
            <a:fillRect/>
          </a:stretch>
        </p:blipFill>
        <p:spPr>
          <a:xfrm>
            <a:off x="2194402" y="585471"/>
            <a:ext cx="4755197" cy="2674937"/>
          </a:xfrm>
          <a:prstGeom prst="rect">
            <a:avLst/>
          </a:prstGeom>
        </p:spPr>
      </p:pic>
      <p:pic>
        <p:nvPicPr>
          <p:cNvPr id="8" name="Picture 7"/>
          <p:cNvPicPr/>
          <p:nvPr/>
        </p:nvPicPr>
        <p:blipFill>
          <a:blip r:embed="rId2"/>
          <a:stretch>
            <a:fillRect/>
          </a:stretch>
        </p:blipFill>
        <p:spPr>
          <a:xfrm>
            <a:off x="2194402" y="3345866"/>
            <a:ext cx="4755197" cy="2674937"/>
          </a:xfrm>
          <a:prstGeom prst="rect">
            <a:avLst/>
          </a:prstGeom>
        </p:spPr>
      </p:pic>
      <p:sp>
        <p:nvSpPr>
          <p:cNvPr id="9" name="Text Box 8"/>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pic>
        <p:nvPicPr>
          <p:cNvPr id="6" name="Picture 5"/>
          <p:cNvPicPr>
            <a:picLocks noChangeAspect="1"/>
          </p:cNvPicPr>
          <p:nvPr/>
        </p:nvPicPr>
        <p:blipFill>
          <a:blip r:embed="rId1"/>
          <a:stretch>
            <a:fillRect/>
          </a:stretch>
        </p:blipFill>
        <p:spPr>
          <a:xfrm>
            <a:off x="3402095" y="-106717"/>
            <a:ext cx="2712955" cy="853514"/>
          </a:xfrm>
          <a:prstGeom prst="rect">
            <a:avLst/>
          </a:prstGeom>
        </p:spPr>
      </p:pic>
      <p:pic>
        <p:nvPicPr>
          <p:cNvPr id="8" name="Picture 7"/>
          <p:cNvPicPr/>
          <p:nvPr/>
        </p:nvPicPr>
        <p:blipFill>
          <a:blip r:embed="rId2"/>
          <a:stretch>
            <a:fillRect/>
          </a:stretch>
        </p:blipFill>
        <p:spPr>
          <a:xfrm>
            <a:off x="2194402" y="585471"/>
            <a:ext cx="4755197" cy="2674937"/>
          </a:xfrm>
          <a:prstGeom prst="rect">
            <a:avLst/>
          </a:prstGeom>
        </p:spPr>
      </p:pic>
      <p:pic>
        <p:nvPicPr>
          <p:cNvPr id="9" name="Picture 8"/>
          <p:cNvPicPr/>
          <p:nvPr/>
        </p:nvPicPr>
        <p:blipFill>
          <a:blip r:embed="rId3"/>
          <a:stretch>
            <a:fillRect/>
          </a:stretch>
        </p:blipFill>
        <p:spPr>
          <a:xfrm>
            <a:off x="2194402" y="3388595"/>
            <a:ext cx="4755197" cy="2674937"/>
          </a:xfrm>
          <a:prstGeom prst="rect">
            <a:avLst/>
          </a:prstGeom>
        </p:spPr>
      </p:pic>
      <p:sp>
        <p:nvSpPr>
          <p:cNvPr id="10" name="Text Box 9"/>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Text Box 4"/>
          <p:cNvSpPr txBox="1"/>
          <p:nvPr/>
        </p:nvSpPr>
        <p:spPr>
          <a:xfrm>
            <a:off x="2143760" y="-226060"/>
            <a:ext cx="4572000" cy="583565"/>
          </a:xfrm>
          <a:prstGeom prst="rect">
            <a:avLst/>
          </a:prstGeom>
          <a:noFill/>
        </p:spPr>
        <p:txBody>
          <a:bodyPr wrap="square" rtlCol="0" anchor="t">
            <a:spAutoFit/>
          </a:bodyPr>
          <a:lstStyle/>
          <a:p>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Screen Shots</a:t>
            </a:r>
            <a:endPar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endParaRPr>
          </a:p>
        </p:txBody>
      </p:sp>
      <p:pic>
        <p:nvPicPr>
          <p:cNvPr id="6" name="Picture 5"/>
          <p:cNvPicPr/>
          <p:nvPr/>
        </p:nvPicPr>
        <p:blipFill>
          <a:blip r:embed="rId1"/>
          <a:stretch>
            <a:fillRect/>
          </a:stretch>
        </p:blipFill>
        <p:spPr>
          <a:xfrm>
            <a:off x="2194402" y="585471"/>
            <a:ext cx="4755197" cy="2674937"/>
          </a:xfrm>
          <a:prstGeom prst="rect">
            <a:avLst/>
          </a:prstGeom>
        </p:spPr>
      </p:pic>
      <p:pic>
        <p:nvPicPr>
          <p:cNvPr id="7" name="Picture 6"/>
          <p:cNvPicPr/>
          <p:nvPr/>
        </p:nvPicPr>
        <p:blipFill>
          <a:blip r:embed="rId2"/>
          <a:stretch>
            <a:fillRect/>
          </a:stretch>
        </p:blipFill>
        <p:spPr>
          <a:xfrm>
            <a:off x="2211494" y="3439870"/>
            <a:ext cx="4755197" cy="2674937"/>
          </a:xfrm>
          <a:prstGeom prst="rect">
            <a:avLst/>
          </a:prstGeom>
        </p:spPr>
      </p:pic>
      <p:sp>
        <p:nvSpPr>
          <p:cNvPr id="8" name="Text Box 7"/>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5" name="Text Box 4"/>
          <p:cNvSpPr txBox="1"/>
          <p:nvPr/>
        </p:nvSpPr>
        <p:spPr>
          <a:xfrm>
            <a:off x="2286000" y="-82550"/>
            <a:ext cx="4572000" cy="583565"/>
          </a:xfrm>
          <a:prstGeom prst="rect">
            <a:avLst/>
          </a:prstGeom>
          <a:noFill/>
        </p:spPr>
        <p:txBody>
          <a:bodyPr wrap="square" rtlCol="0" anchor="t">
            <a:spAutoFit/>
          </a:bodyPr>
          <a:lstStyle/>
          <a:p>
            <a:r>
              <a:rPr lang="en-US"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         </a:t>
            </a: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rPr>
              <a:t>Screen Shots</a:t>
            </a:r>
            <a:endPar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sym typeface="+mn-ea"/>
            </a:endParaRPr>
          </a:p>
        </p:txBody>
      </p:sp>
      <p:pic>
        <p:nvPicPr>
          <p:cNvPr id="6" name="Picture 5"/>
          <p:cNvPicPr/>
          <p:nvPr/>
        </p:nvPicPr>
        <p:blipFill>
          <a:blip r:embed="rId1"/>
          <a:stretch>
            <a:fillRect/>
          </a:stretch>
        </p:blipFill>
        <p:spPr>
          <a:xfrm>
            <a:off x="2194402" y="585471"/>
            <a:ext cx="4755197" cy="2674937"/>
          </a:xfrm>
          <a:prstGeom prst="rect">
            <a:avLst/>
          </a:prstGeom>
        </p:spPr>
      </p:pic>
      <p:pic>
        <p:nvPicPr>
          <p:cNvPr id="7" name="Picture 6"/>
          <p:cNvPicPr/>
          <p:nvPr/>
        </p:nvPicPr>
        <p:blipFill>
          <a:blip r:embed="rId2"/>
          <a:stretch>
            <a:fillRect/>
          </a:stretch>
        </p:blipFill>
        <p:spPr>
          <a:xfrm>
            <a:off x="2194402" y="3388595"/>
            <a:ext cx="4755197" cy="2674937"/>
          </a:xfrm>
          <a:prstGeom prst="rect">
            <a:avLst/>
          </a:prstGeom>
        </p:spPr>
      </p:pic>
      <p:sp>
        <p:nvSpPr>
          <p:cNvPr id="8" name="Text Box 7"/>
          <p:cNvSpPr txBox="1"/>
          <p:nvPr/>
        </p:nvSpPr>
        <p:spPr>
          <a:xfrm>
            <a:off x="2194402" y="5935345"/>
            <a:ext cx="5080000" cy="337185"/>
          </a:xfrm>
          <a:prstGeom prst="rect">
            <a:avLst/>
          </a:prstGeom>
        </p:spPr>
        <p:txBody>
          <a:bodyPr>
            <a:spAutoFit/>
          </a:bodyPr>
          <a:lstStyle/>
          <a:p>
            <a:pPr marL="0" indent="0" defTabSz="266700">
              <a:spcBef>
                <a:spcPct val="0"/>
              </a:spcBef>
              <a:spcAft>
                <a:spcPct val="0"/>
              </a:spcAft>
            </a:pPr>
            <a:r>
              <a:rPr sz="1600">
                <a:latin typeface="Calibri" panose="020F0502020204030204"/>
                <a:ea typeface="等线"/>
              </a:rPr>
              <a:t> </a:t>
            </a:r>
            <a:endParaRPr sz="1600">
              <a:latin typeface="Calibri" panose="020F0502020204030204"/>
              <a:ea typeface="等线"/>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76DFA34F-4ABB-49E2-B705-EBED4503D36D}"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10" name="TextBox 9"/>
          <p:cNvSpPr txBox="1"/>
          <p:nvPr/>
        </p:nvSpPr>
        <p:spPr>
          <a:xfrm>
            <a:off x="223520" y="1094661"/>
            <a:ext cx="8737600" cy="4247317"/>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Future Enhancement:</a:t>
            </a:r>
            <a:endParaRPr lang="en-US" dirty="0">
              <a:latin typeface="Times New Roman" panose="02020603050405020304" pitchFamily="18" charset="0"/>
              <a:cs typeface="Times New Roman" panose="02020603050405020304" pitchFamily="18" charset="0"/>
            </a:endParaRPr>
          </a:p>
          <a:p>
            <a:pPr algn="just">
              <a:lnSpc>
                <a:spcPct val="150000"/>
              </a:lnSpc>
              <a:spcAft>
                <a:spcPts val="1000"/>
              </a:spcAft>
            </a:pP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We focus on improving the security level by guaranteeing the integrity of e-coupon information. For example, the existing e-coupon service uses a database system. In this system, since an administrator can easily obtain the authority, the administrator rather easily modifies the data maliciously. Meanwhile, in our provided service which uses a blockchain system, the administrator cannot easily obtain the authority since the authority should be obtained by the consensus of all users. </a:t>
            </a:r>
            <a:r>
              <a:rPr lang="en-US" alt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Also</a:t>
            </a:r>
            <a:r>
              <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rPr>
              <a:t>, note that many studies are underway to improve the performance of the blockchain. Therefore, performance issues with blockchain will be mitigated in the future and we also leave the improvement for the performance of blockchain as future work.</a:t>
            </a:r>
            <a:endParaRPr lang="en-US" altLang="en-US"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8" name="TextBox 7"/>
          <p:cNvSpPr txBox="1"/>
          <p:nvPr/>
        </p:nvSpPr>
        <p:spPr>
          <a:xfrm>
            <a:off x="1428750" y="136524"/>
            <a:ext cx="725805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rPr>
              <a:t>Conclusion / Feature Enhancement</a:t>
            </a:r>
            <a:endParaRPr lang="en-IN" dirty="0"/>
          </a:p>
        </p:txBody>
      </p:sp>
      <p:sp>
        <p:nvSpPr>
          <p:cNvPr id="10" name="TextBox 9"/>
          <p:cNvSpPr txBox="1"/>
          <p:nvPr/>
        </p:nvSpPr>
        <p:spPr>
          <a:xfrm>
            <a:off x="367469" y="1136591"/>
            <a:ext cx="8554340" cy="4247317"/>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Conclusion</a:t>
            </a:r>
            <a:r>
              <a:rPr lang="en-US" b="1" dirty="0" smtClean="0">
                <a:latin typeface="Times New Roman" panose="02020603050405020304" pitchFamily="18" charset="0"/>
                <a:cs typeface="Times New Roman" panose="02020603050405020304" pitchFamily="18" charset="0"/>
              </a:rPr>
              <a:t>:</a:t>
            </a:r>
            <a:endParaRPr lang="en-US" b="1" dirty="0" smtClean="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We have investigated e-coupon services that store e-coupon information on a decentralized server. We found that the e-coupon information stored in the server can be manipulated by a malicious attacker or administrator. To handle this issue, we present a new e-coupon service that improves security by exploiting e-coupon smart contracts in a Ethereum blockchain system using Ganache Software. According to our experimental results, the proposed service prevents the manipulation of e-coupon information with higher security and minor performance overhead. In the future, we will focus on improving blockchain performance.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Reference Paper/ URL</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Title 1"/>
          <p:cNvSpPr txBox="1"/>
          <p:nvPr/>
        </p:nvSpPr>
        <p:spPr>
          <a:xfrm>
            <a:off x="390433" y="1587898"/>
            <a:ext cx="7886700" cy="530258"/>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gn="ct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solidFill>
                  <a:srgbClr val="7030A0"/>
                </a:solidFill>
                <a:latin typeface="+mn-lt"/>
              </a:rPr>
              <a:t> </a:t>
            </a:r>
            <a:endParaRPr lang="en-IN" dirty="0">
              <a:solidFill>
                <a:srgbClr val="7030A0"/>
              </a:solidFill>
              <a:latin typeface="+mn-lt"/>
            </a:endParaRPr>
          </a:p>
        </p:txBody>
      </p:sp>
      <p:sp>
        <p:nvSpPr>
          <p:cNvPr id="5" name="Date Placeholder 4"/>
          <p:cNvSpPr>
            <a:spLocks noGrp="1"/>
          </p:cNvSpPr>
          <p:nvPr>
            <p:ph type="dt" sz="half" idx="10"/>
          </p:nvPr>
        </p:nvSpPr>
        <p:spPr/>
        <p:txBody>
          <a:bodyPr/>
          <a:lstStyle/>
          <a:p>
            <a:fld id="{9CF59E33-DD9E-4B35-956E-F9289B843811}" type="datetime1">
              <a:rPr lang="en-IN" smtClean="0"/>
            </a:fld>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9" name="TextBox 8"/>
          <p:cNvSpPr txBox="1"/>
          <p:nvPr/>
        </p:nvSpPr>
        <p:spPr>
          <a:xfrm>
            <a:off x="101600" y="1392303"/>
            <a:ext cx="8940800" cy="21200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ttps://www.google.com/search?q=FRAME+WORK+OF+ONLINE+VOTING+SYSTEM+WITH+FACE+RECOGANATION+USING+BLOCK+CHAIN&amp;oq=FRAME+WORK+OF+ONLINE+VOTING+SYSTEM++WITH+FACE+RECOGANATION+USING+BLOCK+CHAIN&amp;gs_lcrp=EgZjaHJvbWUyBggAEEUYOTIGCAEQIRgK0gEJMTI1OWowajE1qAIIsAIB8QUTvjDX6WqZ_w&amp;sourceid=chrome&amp;ie=UTF-8</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0"/>
            <a:ext cx="7886700" cy="1363707"/>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Conference / Publication / Patent Certificate/ Project Contest  Winner Certificates</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4732A565-8813-4399-A521-59C8D95CA068}"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4" name="Footer Placeholder 3"/>
          <p:cNvSpPr>
            <a:spLocks noGrp="1"/>
          </p:cNvSpPr>
          <p:nvPr>
            <p:ph type="ftr" sz="quarter" idx="11"/>
          </p:nvPr>
        </p:nvSpPr>
        <p:spPr/>
        <p:txBody>
          <a:bodyPr/>
          <a:lstStyle/>
          <a:p>
            <a:r>
              <a:rPr lang="en-IN" dirty="0"/>
              <a:t>Title of the Project</a:t>
            </a:r>
            <a:endParaRPr lang="en-IN" dirty="0"/>
          </a:p>
        </p:txBody>
      </p:sp>
    </p:spTree>
  </p:cSld>
  <p:clrMapOvr>
    <a:masterClrMapping/>
  </p:clrMapOvr>
</p:sld>
</file>

<file path=ppt/tags/tag1.xml><?xml version="1.0" encoding="utf-8"?>
<p:tagLst xmlns:p="http://schemas.openxmlformats.org/presentationml/2006/main">
  <p:tag name="TABLE_ENDDRAG_ORIGIN_RECT" val="692*358"/>
  <p:tag name="TABLE_ENDDRAG_RECT" val="13*55*692*35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13560</Words>
  <Application>WPS Slides</Application>
  <PresentationFormat>On-screen Show (4:3)</PresentationFormat>
  <Paragraphs>587</Paragraphs>
  <Slides>35</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35</vt:i4>
      </vt:variant>
    </vt:vector>
  </HeadingPairs>
  <TitlesOfParts>
    <vt:vector size="48" baseType="lpstr">
      <vt:lpstr>Arial</vt:lpstr>
      <vt:lpstr>SimSun</vt:lpstr>
      <vt:lpstr>Wingdings</vt:lpstr>
      <vt:lpstr>Times New Roman</vt:lpstr>
      <vt:lpstr>Calibri</vt:lpstr>
      <vt:lpstr>Wingdings</vt:lpstr>
      <vt:lpstr>Microsoft YaHei</vt:lpstr>
      <vt:lpstr>Arial Unicode MS</vt:lpstr>
      <vt:lpstr>Calibri Light</vt:lpstr>
      <vt:lpstr>Calibri</vt:lpstr>
      <vt:lpstr>Times New Roman</vt:lpstr>
      <vt:lpstr>等线</vt:lpstr>
      <vt:lpstr>Office Theme</vt:lpstr>
      <vt:lpstr>PowerPoint 演示文稿</vt:lpstr>
      <vt:lpstr>Abstract</vt:lpstr>
      <vt:lpstr>Introduction</vt:lpstr>
      <vt:lpstr>Objective of the Project</vt:lpstr>
      <vt:lpstr>Literature Survey</vt:lpstr>
      <vt:lpstr>Literature Survey</vt:lpstr>
      <vt:lpstr>Literature Survey</vt:lpstr>
      <vt:lpstr>Problem Statement</vt:lpstr>
      <vt:lpstr>Proposed System</vt:lpstr>
      <vt:lpstr>Software / Hardware used</vt:lpstr>
      <vt:lpstr>Architecture / Methodology used</vt:lpstr>
      <vt:lpstr>System Design – use case diagram</vt:lpstr>
      <vt:lpstr>PowerPoint 演示文稿</vt:lpstr>
      <vt:lpstr>PowerPoint 演示文稿</vt:lpstr>
      <vt:lpstr>Module Description</vt:lpstr>
      <vt:lpstr>Module Description</vt:lpstr>
      <vt:lpstr>Module Description</vt:lpstr>
      <vt:lpstr>Module Description</vt:lpstr>
      <vt:lpstr>               Module Description</vt:lpstr>
      <vt:lpstr>             Module Description</vt:lpstr>
      <vt:lpstr>Testing /Performance Evaluation / Results</vt:lpstr>
      <vt:lpstr>Testing /Performance Evaluation / Results</vt:lpstr>
      <vt:lpstr>Screen Shots</vt:lpstr>
      <vt:lpstr>Screen Shots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 / Feature Enhancement</vt:lpstr>
      <vt:lpstr>PowerPoint 演示文稿</vt:lpstr>
      <vt:lpstr>Reference Paper/ URL</vt:lpstr>
      <vt:lpstr>Conference / Publication / Patent Certificate/ Project Contest  Winner Certificates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SENTHILKUMAR G</dc:creator>
  <cp:lastModifiedBy>Lalith kumar Lalith kumar</cp:lastModifiedBy>
  <cp:revision>36</cp:revision>
  <dcterms:created xsi:type="dcterms:W3CDTF">2020-12-27T14:21:00Z</dcterms:created>
  <dcterms:modified xsi:type="dcterms:W3CDTF">2025-03-31T06:27:00Z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07801058986D494282C5DB6C59AC6D96_12</vt:lpwstr>
  </property>
  <property fmtid="{D5CDD505-2E9C-101B-9397-08002B2CF9AE}" pid="3" name="KSOProductBuildVer">
    <vt:lpwstr>1033-12.2.0.20782</vt:lpwstr>
  </property>
</Properties>
</file>